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7" r:id="rId20"/>
    <p:sldId id="275" r:id="rId21"/>
    <p:sldId id="276" r:id="rId22"/>
  </p:sldIdLst>
  <p:sldSz cx="18288000" cy="10287000"/>
  <p:notesSz cx="6858000" cy="9144000"/>
  <p:embeddedFontLst>
    <p:embeddedFont>
      <p:font typeface="League Spartan" panose="020B0604020202020204" charset="0"/>
      <p:regular r:id="rId23"/>
    </p:embeddedFont>
    <p:embeddedFont>
      <p:font typeface="Open Sauce" panose="020B0604020202020204" charset="0"/>
      <p:regular r:id="rId24"/>
    </p:embeddedFont>
    <p:embeddedFont>
      <p:font typeface="Open Sauce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0" d="100"/>
          <a:sy n="60" d="100"/>
        </p:scale>
        <p:origin x="370" y="-29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rot="-5400000">
            <a:off x="16636475" y="7822780"/>
            <a:ext cx="552022" cy="667279"/>
          </a:xfrm>
          <a:custGeom>
            <a:avLst/>
            <a:gdLst/>
            <a:ahLst/>
            <a:cxnLst/>
            <a:rect l="l" t="t" r="r" b="b"/>
            <a:pathLst>
              <a:path w="552022" h="667279">
                <a:moveTo>
                  <a:pt x="0" y="0"/>
                </a:moveTo>
                <a:lnTo>
                  <a:pt x="552022" y="0"/>
                </a:lnTo>
                <a:lnTo>
                  <a:pt x="552022" y="667279"/>
                </a:lnTo>
                <a:lnTo>
                  <a:pt x="0" y="66727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547345"/>
            <a:ext cx="9759197" cy="2688758"/>
          </a:xfrm>
          <a:custGeom>
            <a:avLst/>
            <a:gdLst/>
            <a:ahLst/>
            <a:cxnLst/>
            <a:rect l="l" t="t" r="r" b="b"/>
            <a:pathLst>
              <a:path w="9759197" h="2688758">
                <a:moveTo>
                  <a:pt x="0" y="0"/>
                </a:moveTo>
                <a:lnTo>
                  <a:pt x="9759197" y="0"/>
                </a:lnTo>
                <a:lnTo>
                  <a:pt x="9759197" y="2688759"/>
                </a:lnTo>
                <a:lnTo>
                  <a:pt x="0" y="2688759"/>
                </a:lnTo>
                <a:lnTo>
                  <a:pt x="0" y="0"/>
                </a:lnTo>
                <a:close/>
              </a:path>
            </a:pathLst>
          </a:custGeom>
          <a:blipFill>
            <a:blip r:embed="rId4"/>
            <a:stretch>
              <a:fillRect/>
            </a:stretch>
          </a:blipFill>
        </p:spPr>
      </p:sp>
      <p:sp>
        <p:nvSpPr>
          <p:cNvPr id="5" name="TextBox 5"/>
          <p:cNvSpPr txBox="1"/>
          <p:nvPr/>
        </p:nvSpPr>
        <p:spPr>
          <a:xfrm>
            <a:off x="1429767" y="4301968"/>
            <a:ext cx="9803247" cy="1855790"/>
          </a:xfrm>
          <a:prstGeom prst="rect">
            <a:avLst/>
          </a:prstGeom>
        </p:spPr>
        <p:txBody>
          <a:bodyPr lIns="0" tIns="0" rIns="0" bIns="0" rtlCol="0" anchor="t">
            <a:spAutoFit/>
          </a:bodyPr>
          <a:lstStyle/>
          <a:p>
            <a:pPr algn="l">
              <a:lnSpc>
                <a:spcPts val="7437"/>
              </a:lnSpc>
            </a:pPr>
            <a:r>
              <a:rPr lang="en-US" sz="5312" spc="-106">
                <a:solidFill>
                  <a:srgbClr val="FF914D"/>
                </a:solidFill>
                <a:latin typeface="League Spartan"/>
                <a:ea typeface="League Spartan"/>
                <a:cs typeface="League Spartan"/>
                <a:sym typeface="League Spartan"/>
              </a:rPr>
              <a:t>Call Center Performance Analysis</a:t>
            </a:r>
          </a:p>
        </p:txBody>
      </p:sp>
      <p:sp>
        <p:nvSpPr>
          <p:cNvPr id="6" name="TextBox 6"/>
          <p:cNvSpPr txBox="1"/>
          <p:nvPr/>
        </p:nvSpPr>
        <p:spPr>
          <a:xfrm>
            <a:off x="1028700" y="9116314"/>
            <a:ext cx="2176961" cy="222631"/>
          </a:xfrm>
          <a:prstGeom prst="rect">
            <a:avLst/>
          </a:prstGeom>
        </p:spPr>
        <p:txBody>
          <a:bodyPr lIns="0" tIns="0" rIns="0" bIns="0" rtlCol="0" anchor="t">
            <a:spAutoFit/>
          </a:bodyPr>
          <a:lstStyle/>
          <a:p>
            <a:pPr algn="l">
              <a:lnSpc>
                <a:spcPts val="1576"/>
              </a:lnSpc>
            </a:pPr>
            <a:r>
              <a:rPr lang="en-US" sz="1899" spc="-96">
                <a:solidFill>
                  <a:srgbClr val="212121"/>
                </a:solidFill>
                <a:latin typeface="Open Sauce"/>
                <a:ea typeface="Open Sauce"/>
                <a:cs typeface="Open Sauce"/>
                <a:sym typeface="Open Sauce"/>
              </a:rPr>
              <a:t>29 March 2026</a:t>
            </a:r>
          </a:p>
        </p:txBody>
      </p:sp>
      <p:sp>
        <p:nvSpPr>
          <p:cNvPr id="7" name="TextBox 7"/>
          <p:cNvSpPr txBox="1"/>
          <p:nvPr/>
        </p:nvSpPr>
        <p:spPr>
          <a:xfrm>
            <a:off x="14326335" y="9116314"/>
            <a:ext cx="1454131" cy="198882"/>
          </a:xfrm>
          <a:prstGeom prst="rect">
            <a:avLst/>
          </a:prstGeom>
        </p:spPr>
        <p:txBody>
          <a:bodyPr lIns="0" tIns="0" rIns="0" bIns="0" rtlCol="0" anchor="t">
            <a:spAutoFit/>
          </a:bodyPr>
          <a:lstStyle/>
          <a:p>
            <a:pPr algn="r">
              <a:lnSpc>
                <a:spcPts val="1493"/>
              </a:lnSpc>
            </a:pPr>
            <a:r>
              <a:rPr lang="en-US" sz="1799" spc="-91">
                <a:solidFill>
                  <a:srgbClr val="212121"/>
                </a:solidFill>
                <a:latin typeface="Open Sauce"/>
                <a:ea typeface="Open Sauce"/>
                <a:cs typeface="Open Sauce"/>
                <a:sym typeface="Open Sauce"/>
              </a:rPr>
              <a:t>Presented by</a:t>
            </a:r>
          </a:p>
        </p:txBody>
      </p:sp>
      <p:sp>
        <p:nvSpPr>
          <p:cNvPr id="8" name="TextBox 8"/>
          <p:cNvSpPr txBox="1"/>
          <p:nvPr/>
        </p:nvSpPr>
        <p:spPr>
          <a:xfrm>
            <a:off x="15363341" y="9135364"/>
            <a:ext cx="1895995" cy="522350"/>
          </a:xfrm>
          <a:prstGeom prst="rect">
            <a:avLst/>
          </a:prstGeom>
        </p:spPr>
        <p:txBody>
          <a:bodyPr lIns="0" tIns="0" rIns="0" bIns="0" rtlCol="0" anchor="t">
            <a:spAutoFit/>
          </a:bodyPr>
          <a:lstStyle/>
          <a:p>
            <a:pPr algn="r">
              <a:lnSpc>
                <a:spcPts val="1991"/>
              </a:lnSpc>
            </a:pPr>
            <a:r>
              <a:rPr lang="en-US" sz="2399" b="1" spc="-122">
                <a:solidFill>
                  <a:srgbClr val="212121"/>
                </a:solidFill>
                <a:latin typeface="Open Sauce Bold"/>
                <a:ea typeface="Open Sauce Bold"/>
                <a:cs typeface="Open Sauce Bold"/>
                <a:sym typeface="Open Sauce Bold"/>
              </a:rPr>
              <a:t>Mehak Aggarwal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908253"/>
            <a:ext cx="6026287" cy="6350047"/>
            <a:chOff x="0" y="0"/>
            <a:chExt cx="1587170" cy="1672440"/>
          </a:xfrm>
        </p:grpSpPr>
        <p:sp>
          <p:nvSpPr>
            <p:cNvPr id="3" name="Freeform 3"/>
            <p:cNvSpPr/>
            <p:nvPr/>
          </p:nvSpPr>
          <p:spPr>
            <a:xfrm>
              <a:off x="0" y="0"/>
              <a:ext cx="1587170" cy="1672440"/>
            </a:xfrm>
            <a:custGeom>
              <a:avLst/>
              <a:gdLst/>
              <a:ahLst/>
              <a:cxnLst/>
              <a:rect l="l" t="t" r="r" b="b"/>
              <a:pathLst>
                <a:path w="1587170" h="1672440">
                  <a:moveTo>
                    <a:pt x="0" y="0"/>
                  </a:moveTo>
                  <a:lnTo>
                    <a:pt x="1587170" y="0"/>
                  </a:lnTo>
                  <a:lnTo>
                    <a:pt x="1587170" y="1672440"/>
                  </a:lnTo>
                  <a:lnTo>
                    <a:pt x="0" y="1672440"/>
                  </a:lnTo>
                  <a:close/>
                </a:path>
              </a:pathLst>
            </a:custGeom>
            <a:solidFill>
              <a:srgbClr val="E5E6E7"/>
            </a:solidFill>
            <a:ln cap="sq">
              <a:noFill/>
              <a:prstDash val="solid"/>
              <a:miter/>
            </a:ln>
          </p:spPr>
        </p:sp>
        <p:sp>
          <p:nvSpPr>
            <p:cNvPr id="4" name="TextBox 4"/>
            <p:cNvSpPr txBox="1"/>
            <p:nvPr/>
          </p:nvSpPr>
          <p:spPr>
            <a:xfrm>
              <a:off x="0" y="47625"/>
              <a:ext cx="1587170" cy="1624815"/>
            </a:xfrm>
            <a:prstGeom prst="rect">
              <a:avLst/>
            </a:prstGeom>
          </p:spPr>
          <p:txBody>
            <a:bodyPr lIns="50800" tIns="50800" rIns="50800" bIns="50800" rtlCol="0" anchor="ctr"/>
            <a:lstStyle/>
            <a:p>
              <a:pPr algn="ctr">
                <a:lnSpc>
                  <a:spcPts val="1134"/>
                </a:lnSpc>
              </a:pPr>
              <a:endParaRPr/>
            </a:p>
          </p:txBody>
        </p:sp>
      </p:grpSp>
      <p:grpSp>
        <p:nvGrpSpPr>
          <p:cNvPr id="5" name="Group 5"/>
          <p:cNvGrpSpPr/>
          <p:nvPr/>
        </p:nvGrpSpPr>
        <p:grpSpPr>
          <a:xfrm>
            <a:off x="1523038" y="3429150"/>
            <a:ext cx="5037610" cy="5308254"/>
            <a:chOff x="0" y="0"/>
            <a:chExt cx="933629" cy="983788"/>
          </a:xfrm>
        </p:grpSpPr>
        <p:sp>
          <p:nvSpPr>
            <p:cNvPr id="6" name="Freeform 6"/>
            <p:cNvSpPr/>
            <p:nvPr/>
          </p:nvSpPr>
          <p:spPr>
            <a:xfrm>
              <a:off x="0" y="0"/>
              <a:ext cx="933629" cy="983788"/>
            </a:xfrm>
            <a:custGeom>
              <a:avLst/>
              <a:gdLst/>
              <a:ahLst/>
              <a:cxnLst/>
              <a:rect l="l" t="t" r="r" b="b"/>
              <a:pathLst>
                <a:path w="933629" h="983788">
                  <a:moveTo>
                    <a:pt x="0" y="0"/>
                  </a:moveTo>
                  <a:lnTo>
                    <a:pt x="933629" y="0"/>
                  </a:lnTo>
                  <a:lnTo>
                    <a:pt x="933629" y="983788"/>
                  </a:lnTo>
                  <a:lnTo>
                    <a:pt x="0" y="983788"/>
                  </a:lnTo>
                  <a:close/>
                </a:path>
              </a:pathLst>
            </a:custGeom>
            <a:blipFill>
              <a:blip r:embed="rId2"/>
              <a:stretch>
                <a:fillRect l="-29078" r="-29078"/>
              </a:stretch>
            </a:blipFill>
          </p:spPr>
        </p:sp>
      </p:grpSp>
      <p:sp>
        <p:nvSpPr>
          <p:cNvPr id="7" name="TextBox 7"/>
          <p:cNvSpPr txBox="1"/>
          <p:nvPr/>
        </p:nvSpPr>
        <p:spPr>
          <a:xfrm>
            <a:off x="7054987" y="5384050"/>
            <a:ext cx="7316043" cy="1892299"/>
          </a:xfrm>
          <a:prstGeom prst="rect">
            <a:avLst/>
          </a:prstGeom>
        </p:spPr>
        <p:txBody>
          <a:bodyPr lIns="0" tIns="0" rIns="0" bIns="0" rtlCol="0" anchor="t">
            <a:spAutoFit/>
          </a:bodyPr>
          <a:lstStyle/>
          <a:p>
            <a:pPr algn="r">
              <a:lnSpc>
                <a:spcPts val="15400"/>
              </a:lnSpc>
            </a:pPr>
            <a:r>
              <a:rPr lang="en-US" sz="11000" b="1" spc="-220">
                <a:solidFill>
                  <a:srgbClr val="080708"/>
                </a:solidFill>
                <a:latin typeface="Open Sauce Bold"/>
                <a:ea typeface="Open Sauce Bold"/>
                <a:cs typeface="Open Sauce Bold"/>
                <a:sym typeface="Open Sauce Bold"/>
              </a:rPr>
              <a:t>Problem</a:t>
            </a:r>
          </a:p>
        </p:txBody>
      </p:sp>
      <p:sp>
        <p:nvSpPr>
          <p:cNvPr id="8" name="TextBox 8"/>
          <p:cNvSpPr txBox="1"/>
          <p:nvPr/>
        </p:nvSpPr>
        <p:spPr>
          <a:xfrm>
            <a:off x="10390553" y="6853159"/>
            <a:ext cx="6868747" cy="1892299"/>
          </a:xfrm>
          <a:prstGeom prst="rect">
            <a:avLst/>
          </a:prstGeom>
        </p:spPr>
        <p:txBody>
          <a:bodyPr lIns="0" tIns="0" rIns="0" bIns="0" rtlCol="0" anchor="t">
            <a:spAutoFit/>
          </a:bodyPr>
          <a:lstStyle/>
          <a:p>
            <a:pPr algn="r">
              <a:lnSpc>
                <a:spcPts val="15400"/>
              </a:lnSpc>
            </a:pPr>
            <a:r>
              <a:rPr lang="en-US" sz="11000" spc="-220">
                <a:solidFill>
                  <a:srgbClr val="31DAFF"/>
                </a:solidFill>
                <a:latin typeface="Open Sauce"/>
                <a:ea typeface="Open Sauce"/>
                <a:cs typeface="Open Sauce"/>
                <a:sym typeface="Open Sauce"/>
              </a:rPr>
              <a:t>Statement</a:t>
            </a:r>
          </a:p>
        </p:txBody>
      </p:sp>
      <p:grpSp>
        <p:nvGrpSpPr>
          <p:cNvPr id="9" name="Group 9"/>
          <p:cNvGrpSpPr/>
          <p:nvPr/>
        </p:nvGrpSpPr>
        <p:grpSpPr>
          <a:xfrm>
            <a:off x="7718293" y="1276052"/>
            <a:ext cx="9541007" cy="3264403"/>
            <a:chOff x="0" y="0"/>
            <a:chExt cx="12721343" cy="4352538"/>
          </a:xfrm>
        </p:grpSpPr>
        <p:grpSp>
          <p:nvGrpSpPr>
            <p:cNvPr id="10" name="Group 10"/>
            <p:cNvGrpSpPr/>
            <p:nvPr/>
          </p:nvGrpSpPr>
          <p:grpSpPr>
            <a:xfrm>
              <a:off x="0" y="0"/>
              <a:ext cx="12721343" cy="4352538"/>
              <a:chOff x="0" y="0"/>
              <a:chExt cx="2512858" cy="859761"/>
            </a:xfrm>
          </p:grpSpPr>
          <p:sp>
            <p:nvSpPr>
              <p:cNvPr id="11" name="Freeform 11"/>
              <p:cNvSpPr/>
              <p:nvPr/>
            </p:nvSpPr>
            <p:spPr>
              <a:xfrm>
                <a:off x="0" y="0"/>
                <a:ext cx="2512858" cy="859761"/>
              </a:xfrm>
              <a:custGeom>
                <a:avLst/>
                <a:gdLst/>
                <a:ahLst/>
                <a:cxnLst/>
                <a:rect l="l" t="t" r="r" b="b"/>
                <a:pathLst>
                  <a:path w="2512858" h="859761">
                    <a:moveTo>
                      <a:pt x="0" y="0"/>
                    </a:moveTo>
                    <a:lnTo>
                      <a:pt x="2512858" y="0"/>
                    </a:lnTo>
                    <a:lnTo>
                      <a:pt x="2512858" y="859761"/>
                    </a:lnTo>
                    <a:lnTo>
                      <a:pt x="0" y="859761"/>
                    </a:lnTo>
                    <a:close/>
                  </a:path>
                </a:pathLst>
              </a:custGeom>
              <a:ln w="19050" cap="sq">
                <a:solidFill>
                  <a:srgbClr val="000000"/>
                </a:solidFill>
                <a:prstDash val="solid"/>
                <a:miter/>
              </a:ln>
            </p:spPr>
          </p:sp>
          <p:sp>
            <p:nvSpPr>
              <p:cNvPr id="12" name="TextBox 12"/>
              <p:cNvSpPr txBox="1"/>
              <p:nvPr/>
            </p:nvSpPr>
            <p:spPr>
              <a:xfrm>
                <a:off x="0" y="47625"/>
                <a:ext cx="2512858" cy="812136"/>
              </a:xfrm>
              <a:prstGeom prst="rect">
                <a:avLst/>
              </a:prstGeom>
            </p:spPr>
            <p:txBody>
              <a:bodyPr lIns="50800" tIns="50800" rIns="50800" bIns="50800" rtlCol="0" anchor="ctr"/>
              <a:lstStyle/>
              <a:p>
                <a:pPr algn="ctr">
                  <a:lnSpc>
                    <a:spcPts val="1134"/>
                  </a:lnSpc>
                </a:pPr>
                <a:endParaRPr/>
              </a:p>
            </p:txBody>
          </p:sp>
        </p:grpSp>
        <p:sp>
          <p:nvSpPr>
            <p:cNvPr id="13" name="TextBox 13"/>
            <p:cNvSpPr txBox="1"/>
            <p:nvPr/>
          </p:nvSpPr>
          <p:spPr>
            <a:xfrm>
              <a:off x="609782" y="752994"/>
              <a:ext cx="10478615" cy="2827837"/>
            </a:xfrm>
            <a:prstGeom prst="rect">
              <a:avLst/>
            </a:prstGeom>
          </p:spPr>
          <p:txBody>
            <a:bodyPr lIns="0" tIns="0" rIns="0" bIns="0" rtlCol="0" anchor="t">
              <a:spAutoFit/>
            </a:bodyPr>
            <a:lstStyle/>
            <a:p>
              <a:pPr algn="l">
                <a:lnSpc>
                  <a:spcPts val="2827"/>
                </a:lnSpc>
              </a:pPr>
              <a:r>
                <a:rPr lang="en-US" sz="2019" b="1" spc="-40">
                  <a:solidFill>
                    <a:srgbClr val="080708"/>
                  </a:solidFill>
                  <a:latin typeface="Open Sauce Bold"/>
                  <a:ea typeface="Open Sauce Bold"/>
                  <a:cs typeface="Open Sauce Bold"/>
                  <a:sym typeface="Open Sauce Bold"/>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p>
          </p:txBody>
        </p:sp>
        <p:sp>
          <p:nvSpPr>
            <p:cNvPr id="14" name="Freeform 14"/>
            <p:cNvSpPr/>
            <p:nvPr/>
          </p:nvSpPr>
          <p:spPr>
            <a:xfrm rot="-5400000">
              <a:off x="11238674" y="732051"/>
              <a:ext cx="565573" cy="683660"/>
            </a:xfrm>
            <a:custGeom>
              <a:avLst/>
              <a:gdLst/>
              <a:ahLst/>
              <a:cxnLst/>
              <a:rect l="l" t="t" r="r" b="b"/>
              <a:pathLst>
                <a:path w="565573" h="683660">
                  <a:moveTo>
                    <a:pt x="0" y="0"/>
                  </a:moveTo>
                  <a:lnTo>
                    <a:pt x="565574" y="0"/>
                  </a:lnTo>
                  <a:lnTo>
                    <a:pt x="565574" y="683660"/>
                  </a:lnTo>
                  <a:lnTo>
                    <a:pt x="0" y="68366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3528406" cy="4437110"/>
            <a:chOff x="0" y="0"/>
            <a:chExt cx="3563037" cy="1168622"/>
          </a:xfrm>
        </p:grpSpPr>
        <p:sp>
          <p:nvSpPr>
            <p:cNvPr id="3" name="Freeform 3"/>
            <p:cNvSpPr/>
            <p:nvPr/>
          </p:nvSpPr>
          <p:spPr>
            <a:xfrm>
              <a:off x="0" y="0"/>
              <a:ext cx="3563037" cy="1168622"/>
            </a:xfrm>
            <a:custGeom>
              <a:avLst/>
              <a:gdLst/>
              <a:ahLst/>
              <a:cxnLst/>
              <a:rect l="l" t="t" r="r" b="b"/>
              <a:pathLst>
                <a:path w="3563037" h="1168622">
                  <a:moveTo>
                    <a:pt x="0" y="0"/>
                  </a:moveTo>
                  <a:lnTo>
                    <a:pt x="3563037" y="0"/>
                  </a:lnTo>
                  <a:lnTo>
                    <a:pt x="3563037" y="1168622"/>
                  </a:lnTo>
                  <a:lnTo>
                    <a:pt x="0" y="1168622"/>
                  </a:lnTo>
                  <a:close/>
                </a:path>
              </a:pathLst>
            </a:custGeom>
            <a:ln w="19050" cap="sq">
              <a:solidFill>
                <a:srgbClr val="000000"/>
              </a:solidFill>
              <a:prstDash val="solid"/>
              <a:miter/>
            </a:ln>
          </p:spPr>
        </p:sp>
        <p:sp>
          <p:nvSpPr>
            <p:cNvPr id="4" name="TextBox 4"/>
            <p:cNvSpPr txBox="1"/>
            <p:nvPr/>
          </p:nvSpPr>
          <p:spPr>
            <a:xfrm>
              <a:off x="0" y="47625"/>
              <a:ext cx="3563037" cy="1120997"/>
            </a:xfrm>
            <a:prstGeom prst="rect">
              <a:avLst/>
            </a:prstGeom>
          </p:spPr>
          <p:txBody>
            <a:bodyPr lIns="50800" tIns="50800" rIns="50800" bIns="50800" rtlCol="0" anchor="ctr"/>
            <a:lstStyle/>
            <a:p>
              <a:pPr algn="ctr">
                <a:lnSpc>
                  <a:spcPts val="1134"/>
                </a:lnSpc>
              </a:pPr>
              <a:endParaRPr/>
            </a:p>
          </p:txBody>
        </p:sp>
      </p:grpSp>
      <p:grpSp>
        <p:nvGrpSpPr>
          <p:cNvPr id="5" name="Group 5"/>
          <p:cNvGrpSpPr/>
          <p:nvPr/>
        </p:nvGrpSpPr>
        <p:grpSpPr>
          <a:xfrm>
            <a:off x="10181897" y="4852505"/>
            <a:ext cx="7077403" cy="5434495"/>
            <a:chOff x="0" y="0"/>
            <a:chExt cx="1096475" cy="841945"/>
          </a:xfrm>
        </p:grpSpPr>
        <p:sp>
          <p:nvSpPr>
            <p:cNvPr id="6" name="Freeform 6"/>
            <p:cNvSpPr/>
            <p:nvPr/>
          </p:nvSpPr>
          <p:spPr>
            <a:xfrm>
              <a:off x="0" y="0"/>
              <a:ext cx="1096475" cy="841946"/>
            </a:xfrm>
            <a:custGeom>
              <a:avLst/>
              <a:gdLst/>
              <a:ahLst/>
              <a:cxnLst/>
              <a:rect l="l" t="t" r="r" b="b"/>
              <a:pathLst>
                <a:path w="1096475" h="841946">
                  <a:moveTo>
                    <a:pt x="0" y="0"/>
                  </a:moveTo>
                  <a:lnTo>
                    <a:pt x="1096475" y="0"/>
                  </a:lnTo>
                  <a:lnTo>
                    <a:pt x="1096475" y="841946"/>
                  </a:lnTo>
                  <a:lnTo>
                    <a:pt x="0" y="841946"/>
                  </a:lnTo>
                  <a:close/>
                </a:path>
              </a:pathLst>
            </a:custGeom>
            <a:blipFill>
              <a:blip r:embed="rId2"/>
              <a:stretch>
                <a:fillRect t="-15115" b="-15115"/>
              </a:stretch>
            </a:blipFill>
          </p:spPr>
        </p:sp>
      </p:grpSp>
      <p:sp>
        <p:nvSpPr>
          <p:cNvPr id="7" name="Freeform 7"/>
          <p:cNvSpPr/>
          <p:nvPr/>
        </p:nvSpPr>
        <p:spPr>
          <a:xfrm rot="-5400000">
            <a:off x="16649649" y="2576321"/>
            <a:ext cx="552022" cy="667279"/>
          </a:xfrm>
          <a:custGeom>
            <a:avLst/>
            <a:gdLst/>
            <a:ahLst/>
            <a:cxnLst/>
            <a:rect l="l" t="t" r="r" b="b"/>
            <a:pathLst>
              <a:path w="552022" h="667279">
                <a:moveTo>
                  <a:pt x="0" y="0"/>
                </a:moveTo>
                <a:lnTo>
                  <a:pt x="552022" y="0"/>
                </a:lnTo>
                <a:lnTo>
                  <a:pt x="552022" y="667280"/>
                </a:lnTo>
                <a:lnTo>
                  <a:pt x="0" y="66728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AutoShape 8"/>
          <p:cNvSpPr/>
          <p:nvPr/>
        </p:nvSpPr>
        <p:spPr>
          <a:xfrm>
            <a:off x="1028700" y="1933645"/>
            <a:ext cx="13528406" cy="0"/>
          </a:xfrm>
          <a:prstGeom prst="line">
            <a:avLst/>
          </a:prstGeom>
          <a:ln w="19050" cap="flat">
            <a:solidFill>
              <a:srgbClr val="000000"/>
            </a:solidFill>
            <a:prstDash val="solid"/>
            <a:headEnd type="none" w="sm" len="sm"/>
            <a:tailEnd type="none" w="sm" len="sm"/>
          </a:ln>
        </p:spPr>
      </p:sp>
      <p:sp>
        <p:nvSpPr>
          <p:cNvPr id="9" name="TextBox 9"/>
          <p:cNvSpPr txBox="1"/>
          <p:nvPr/>
        </p:nvSpPr>
        <p:spPr>
          <a:xfrm>
            <a:off x="1028700" y="6222284"/>
            <a:ext cx="5458139" cy="1892299"/>
          </a:xfrm>
          <a:prstGeom prst="rect">
            <a:avLst/>
          </a:prstGeom>
        </p:spPr>
        <p:txBody>
          <a:bodyPr lIns="0" tIns="0" rIns="0" bIns="0" rtlCol="0" anchor="t">
            <a:spAutoFit/>
          </a:bodyPr>
          <a:lstStyle/>
          <a:p>
            <a:pPr algn="l">
              <a:lnSpc>
                <a:spcPts val="15400"/>
              </a:lnSpc>
            </a:pPr>
            <a:r>
              <a:rPr lang="en-US" sz="11000" b="1" spc="-220">
                <a:solidFill>
                  <a:srgbClr val="080708"/>
                </a:solidFill>
                <a:latin typeface="Open Sauce Bold"/>
                <a:ea typeface="Open Sauce Bold"/>
                <a:cs typeface="Open Sauce Bold"/>
                <a:sym typeface="Open Sauce Bold"/>
              </a:rPr>
              <a:t>Project</a:t>
            </a:r>
          </a:p>
        </p:txBody>
      </p:sp>
      <p:sp>
        <p:nvSpPr>
          <p:cNvPr id="10" name="TextBox 10"/>
          <p:cNvSpPr txBox="1"/>
          <p:nvPr/>
        </p:nvSpPr>
        <p:spPr>
          <a:xfrm>
            <a:off x="1028700" y="7895509"/>
            <a:ext cx="6898833" cy="1892299"/>
          </a:xfrm>
          <a:prstGeom prst="rect">
            <a:avLst/>
          </a:prstGeom>
        </p:spPr>
        <p:txBody>
          <a:bodyPr lIns="0" tIns="0" rIns="0" bIns="0" rtlCol="0" anchor="t">
            <a:spAutoFit/>
          </a:bodyPr>
          <a:lstStyle/>
          <a:p>
            <a:pPr algn="l">
              <a:lnSpc>
                <a:spcPts val="15400"/>
              </a:lnSpc>
            </a:pPr>
            <a:r>
              <a:rPr lang="en-US" sz="11000" spc="-220">
                <a:solidFill>
                  <a:srgbClr val="31DAFF"/>
                </a:solidFill>
                <a:latin typeface="Open Sauce"/>
                <a:ea typeface="Open Sauce"/>
                <a:cs typeface="Open Sauce"/>
                <a:sym typeface="Open Sauce"/>
              </a:rPr>
              <a:t>Objective</a:t>
            </a:r>
          </a:p>
        </p:txBody>
      </p:sp>
      <p:sp>
        <p:nvSpPr>
          <p:cNvPr id="11" name="TextBox 11"/>
          <p:cNvSpPr txBox="1"/>
          <p:nvPr/>
        </p:nvSpPr>
        <p:spPr>
          <a:xfrm>
            <a:off x="1198935" y="2285149"/>
            <a:ext cx="12521663" cy="3339465"/>
          </a:xfrm>
          <a:prstGeom prst="rect">
            <a:avLst/>
          </a:prstGeom>
        </p:spPr>
        <p:txBody>
          <a:bodyPr lIns="0" tIns="0" rIns="0" bIns="0" rtlCol="0" anchor="t">
            <a:spAutoFit/>
          </a:bodyPr>
          <a:lstStyle/>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Analyze call center data to identify key operational inefficiencies and performance gaps</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Evaluate customer satisfaction drivers across channels and time periods</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Assess agent workload distribution and resource utilization</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Provide data-driven recommendations to improve:</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Operational efficiency</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Customer experience</a:t>
            </a:r>
          </a:p>
          <a:p>
            <a:pPr marL="518160" lvl="1" indent="-259080" algn="l">
              <a:lnSpc>
                <a:spcPts val="3359"/>
              </a:lnSpc>
              <a:buFont typeface="Arial"/>
              <a:buChar char="•"/>
            </a:pPr>
            <a:r>
              <a:rPr lang="en-US" sz="2400" spc="-122">
                <a:solidFill>
                  <a:srgbClr val="212121"/>
                </a:solidFill>
                <a:latin typeface="Open Sauce"/>
                <a:ea typeface="Open Sauce"/>
                <a:cs typeface="Open Sauce"/>
                <a:sym typeface="Open Sauce"/>
              </a:rPr>
              <a:t>Revenue growth</a:t>
            </a:r>
          </a:p>
          <a:p>
            <a:pPr algn="l">
              <a:lnSpc>
                <a:spcPts val="3359"/>
              </a:lnSpc>
            </a:pPr>
            <a:endParaRPr lang="en-US" sz="2400" spc="-122">
              <a:solidFill>
                <a:srgbClr val="212121"/>
              </a:solidFill>
              <a:latin typeface="Open Sauce"/>
              <a:ea typeface="Open Sauce"/>
              <a:cs typeface="Open Sauce"/>
              <a:sym typeface="Open Sauc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50" y="2408043"/>
            <a:ext cx="5770904" cy="7878957"/>
            <a:chOff x="0" y="0"/>
            <a:chExt cx="894064" cy="1220657"/>
          </a:xfrm>
        </p:grpSpPr>
        <p:sp>
          <p:nvSpPr>
            <p:cNvPr id="3" name="Freeform 3"/>
            <p:cNvSpPr/>
            <p:nvPr/>
          </p:nvSpPr>
          <p:spPr>
            <a:xfrm>
              <a:off x="0" y="0"/>
              <a:ext cx="894064" cy="1220657"/>
            </a:xfrm>
            <a:custGeom>
              <a:avLst/>
              <a:gdLst/>
              <a:ahLst/>
              <a:cxnLst/>
              <a:rect l="l" t="t" r="r" b="b"/>
              <a:pathLst>
                <a:path w="894064" h="1220657">
                  <a:moveTo>
                    <a:pt x="0" y="0"/>
                  </a:moveTo>
                  <a:lnTo>
                    <a:pt x="894064" y="0"/>
                  </a:lnTo>
                  <a:lnTo>
                    <a:pt x="894064" y="1220657"/>
                  </a:lnTo>
                  <a:lnTo>
                    <a:pt x="0" y="1220657"/>
                  </a:lnTo>
                  <a:close/>
                </a:path>
              </a:pathLst>
            </a:custGeom>
            <a:blipFill>
              <a:blip r:embed="rId2"/>
              <a:stretch>
                <a:fillRect l="-18264" r="-18264"/>
              </a:stretch>
            </a:blipFill>
          </p:spPr>
        </p:sp>
      </p:grpSp>
      <p:grpSp>
        <p:nvGrpSpPr>
          <p:cNvPr id="4" name="Group 4"/>
          <p:cNvGrpSpPr/>
          <p:nvPr/>
        </p:nvGrpSpPr>
        <p:grpSpPr>
          <a:xfrm>
            <a:off x="1028700" y="8406532"/>
            <a:ext cx="1360053" cy="851768"/>
            <a:chOff x="0" y="0"/>
            <a:chExt cx="358203" cy="224334"/>
          </a:xfrm>
        </p:grpSpPr>
        <p:sp>
          <p:nvSpPr>
            <p:cNvPr id="5" name="Freeform 5"/>
            <p:cNvSpPr/>
            <p:nvPr/>
          </p:nvSpPr>
          <p:spPr>
            <a:xfrm>
              <a:off x="0" y="0"/>
              <a:ext cx="358203" cy="224334"/>
            </a:xfrm>
            <a:custGeom>
              <a:avLst/>
              <a:gdLst/>
              <a:ahLst/>
              <a:cxnLst/>
              <a:rect l="l" t="t" r="r" b="b"/>
              <a:pathLst>
                <a:path w="358203" h="224334">
                  <a:moveTo>
                    <a:pt x="0" y="0"/>
                  </a:moveTo>
                  <a:lnTo>
                    <a:pt x="358203" y="0"/>
                  </a:lnTo>
                  <a:lnTo>
                    <a:pt x="358203" y="224334"/>
                  </a:lnTo>
                  <a:lnTo>
                    <a:pt x="0" y="224334"/>
                  </a:lnTo>
                  <a:close/>
                </a:path>
              </a:pathLst>
            </a:custGeom>
            <a:solidFill>
              <a:srgbClr val="FFFFFF"/>
            </a:solidFill>
            <a:ln cap="sq">
              <a:noFill/>
              <a:prstDash val="solid"/>
              <a:miter/>
            </a:ln>
          </p:spPr>
        </p:sp>
        <p:sp>
          <p:nvSpPr>
            <p:cNvPr id="6" name="TextBox 6"/>
            <p:cNvSpPr txBox="1"/>
            <p:nvPr/>
          </p:nvSpPr>
          <p:spPr>
            <a:xfrm>
              <a:off x="0" y="47625"/>
              <a:ext cx="358203" cy="176709"/>
            </a:xfrm>
            <a:prstGeom prst="rect">
              <a:avLst/>
            </a:prstGeom>
          </p:spPr>
          <p:txBody>
            <a:bodyPr lIns="50800" tIns="50800" rIns="50800" bIns="50800" rtlCol="0" anchor="ctr"/>
            <a:lstStyle/>
            <a:p>
              <a:pPr algn="ctr">
                <a:lnSpc>
                  <a:spcPts val="1134"/>
                </a:lnSpc>
              </a:pPr>
              <a:endParaRPr/>
            </a:p>
          </p:txBody>
        </p:sp>
      </p:grpSp>
      <p:grpSp>
        <p:nvGrpSpPr>
          <p:cNvPr id="7" name="Group 7"/>
          <p:cNvGrpSpPr/>
          <p:nvPr/>
        </p:nvGrpSpPr>
        <p:grpSpPr>
          <a:xfrm>
            <a:off x="4545256" y="3230642"/>
            <a:ext cx="4478662" cy="6027658"/>
            <a:chOff x="0" y="0"/>
            <a:chExt cx="1179565" cy="1587531"/>
          </a:xfrm>
        </p:grpSpPr>
        <p:sp>
          <p:nvSpPr>
            <p:cNvPr id="8" name="Freeform 8"/>
            <p:cNvSpPr/>
            <p:nvPr/>
          </p:nvSpPr>
          <p:spPr>
            <a:xfrm>
              <a:off x="0" y="0"/>
              <a:ext cx="1179565" cy="1587531"/>
            </a:xfrm>
            <a:custGeom>
              <a:avLst/>
              <a:gdLst/>
              <a:ahLst/>
              <a:cxnLst/>
              <a:rect l="l" t="t" r="r" b="b"/>
              <a:pathLst>
                <a:path w="1179565" h="1587531">
                  <a:moveTo>
                    <a:pt x="0" y="0"/>
                  </a:moveTo>
                  <a:lnTo>
                    <a:pt x="1179565" y="0"/>
                  </a:lnTo>
                  <a:lnTo>
                    <a:pt x="1179565" y="1587531"/>
                  </a:lnTo>
                  <a:lnTo>
                    <a:pt x="0" y="1587531"/>
                  </a:lnTo>
                  <a:close/>
                </a:path>
              </a:pathLst>
            </a:custGeom>
            <a:solidFill>
              <a:srgbClr val="E5E6E7"/>
            </a:solidFill>
            <a:ln cap="sq">
              <a:noFill/>
              <a:prstDash val="solid"/>
              <a:miter/>
            </a:ln>
          </p:spPr>
        </p:sp>
        <p:sp>
          <p:nvSpPr>
            <p:cNvPr id="9" name="TextBox 9"/>
            <p:cNvSpPr txBox="1"/>
            <p:nvPr/>
          </p:nvSpPr>
          <p:spPr>
            <a:xfrm>
              <a:off x="0" y="47625"/>
              <a:ext cx="1179565" cy="1539906"/>
            </a:xfrm>
            <a:prstGeom prst="rect">
              <a:avLst/>
            </a:prstGeom>
          </p:spPr>
          <p:txBody>
            <a:bodyPr lIns="50800" tIns="50800" rIns="50800" bIns="50800" rtlCol="0" anchor="ctr"/>
            <a:lstStyle/>
            <a:p>
              <a:pPr algn="ctr">
                <a:lnSpc>
                  <a:spcPts val="1134"/>
                </a:lnSpc>
              </a:pPr>
              <a:endParaRPr/>
            </a:p>
          </p:txBody>
        </p:sp>
      </p:grpSp>
      <p:grpSp>
        <p:nvGrpSpPr>
          <p:cNvPr id="10" name="Group 10"/>
          <p:cNvGrpSpPr/>
          <p:nvPr/>
        </p:nvGrpSpPr>
        <p:grpSpPr>
          <a:xfrm>
            <a:off x="9023918" y="3230642"/>
            <a:ext cx="4776562" cy="6027658"/>
            <a:chOff x="0" y="0"/>
            <a:chExt cx="1258024" cy="1587531"/>
          </a:xfrm>
        </p:grpSpPr>
        <p:sp>
          <p:nvSpPr>
            <p:cNvPr id="11" name="Freeform 11"/>
            <p:cNvSpPr/>
            <p:nvPr/>
          </p:nvSpPr>
          <p:spPr>
            <a:xfrm>
              <a:off x="0" y="0"/>
              <a:ext cx="1258024" cy="1587531"/>
            </a:xfrm>
            <a:custGeom>
              <a:avLst/>
              <a:gdLst/>
              <a:ahLst/>
              <a:cxnLst/>
              <a:rect l="l" t="t" r="r" b="b"/>
              <a:pathLst>
                <a:path w="1258024" h="1587531">
                  <a:moveTo>
                    <a:pt x="0" y="0"/>
                  </a:moveTo>
                  <a:lnTo>
                    <a:pt x="1258024" y="0"/>
                  </a:lnTo>
                  <a:lnTo>
                    <a:pt x="1258024" y="1587531"/>
                  </a:lnTo>
                  <a:lnTo>
                    <a:pt x="0" y="1587531"/>
                  </a:lnTo>
                  <a:close/>
                </a:path>
              </a:pathLst>
            </a:custGeom>
            <a:ln w="9525" cap="sq">
              <a:solidFill>
                <a:srgbClr val="080708"/>
              </a:solidFill>
              <a:prstDash val="solid"/>
              <a:miter/>
            </a:ln>
          </p:spPr>
        </p:sp>
        <p:sp>
          <p:nvSpPr>
            <p:cNvPr id="12" name="TextBox 12"/>
            <p:cNvSpPr txBox="1"/>
            <p:nvPr/>
          </p:nvSpPr>
          <p:spPr>
            <a:xfrm>
              <a:off x="0" y="47625"/>
              <a:ext cx="1258024" cy="1539906"/>
            </a:xfrm>
            <a:prstGeom prst="rect">
              <a:avLst/>
            </a:prstGeom>
          </p:spPr>
          <p:txBody>
            <a:bodyPr lIns="50800" tIns="50800" rIns="50800" bIns="50800" rtlCol="0" anchor="ctr"/>
            <a:lstStyle/>
            <a:p>
              <a:pPr algn="ctr">
                <a:lnSpc>
                  <a:spcPts val="1134"/>
                </a:lnSpc>
              </a:pPr>
              <a:endParaRPr/>
            </a:p>
          </p:txBody>
        </p:sp>
      </p:grpSp>
      <p:grpSp>
        <p:nvGrpSpPr>
          <p:cNvPr id="13" name="Group 13"/>
          <p:cNvGrpSpPr/>
          <p:nvPr/>
        </p:nvGrpSpPr>
        <p:grpSpPr>
          <a:xfrm>
            <a:off x="13800479" y="3230642"/>
            <a:ext cx="4487521" cy="6027658"/>
            <a:chOff x="0" y="0"/>
            <a:chExt cx="1181898" cy="1587531"/>
          </a:xfrm>
        </p:grpSpPr>
        <p:sp>
          <p:nvSpPr>
            <p:cNvPr id="14" name="Freeform 14"/>
            <p:cNvSpPr/>
            <p:nvPr/>
          </p:nvSpPr>
          <p:spPr>
            <a:xfrm>
              <a:off x="0" y="0"/>
              <a:ext cx="1181898" cy="1587531"/>
            </a:xfrm>
            <a:custGeom>
              <a:avLst/>
              <a:gdLst/>
              <a:ahLst/>
              <a:cxnLst/>
              <a:rect l="l" t="t" r="r" b="b"/>
              <a:pathLst>
                <a:path w="1181898" h="1587531">
                  <a:moveTo>
                    <a:pt x="0" y="0"/>
                  </a:moveTo>
                  <a:lnTo>
                    <a:pt x="1181898" y="0"/>
                  </a:lnTo>
                  <a:lnTo>
                    <a:pt x="1181898" y="1587531"/>
                  </a:lnTo>
                  <a:lnTo>
                    <a:pt x="0" y="1587531"/>
                  </a:lnTo>
                  <a:close/>
                </a:path>
              </a:pathLst>
            </a:custGeom>
            <a:solidFill>
              <a:srgbClr val="E5E6E7"/>
            </a:solidFill>
            <a:ln cap="sq">
              <a:noFill/>
              <a:prstDash val="solid"/>
              <a:miter/>
            </a:ln>
          </p:spPr>
        </p:sp>
        <p:sp>
          <p:nvSpPr>
            <p:cNvPr id="15" name="TextBox 15"/>
            <p:cNvSpPr txBox="1"/>
            <p:nvPr/>
          </p:nvSpPr>
          <p:spPr>
            <a:xfrm>
              <a:off x="0" y="47625"/>
              <a:ext cx="1181898" cy="1539906"/>
            </a:xfrm>
            <a:prstGeom prst="rect">
              <a:avLst/>
            </a:prstGeom>
          </p:spPr>
          <p:txBody>
            <a:bodyPr lIns="50800" tIns="50800" rIns="50800" bIns="50800" rtlCol="0" anchor="ctr"/>
            <a:lstStyle/>
            <a:p>
              <a:pPr algn="ctr">
                <a:lnSpc>
                  <a:spcPts val="1134"/>
                </a:lnSpc>
              </a:pPr>
              <a:endParaRPr/>
            </a:p>
          </p:txBody>
        </p:sp>
      </p:grpSp>
      <p:sp>
        <p:nvSpPr>
          <p:cNvPr id="16" name="Freeform 16"/>
          <p:cNvSpPr/>
          <p:nvPr/>
        </p:nvSpPr>
        <p:spPr>
          <a:xfrm rot="-5400000">
            <a:off x="1475523" y="8548380"/>
            <a:ext cx="438299" cy="529812"/>
          </a:xfrm>
          <a:custGeom>
            <a:avLst/>
            <a:gdLst/>
            <a:ahLst/>
            <a:cxnLst/>
            <a:rect l="l" t="t" r="r" b="b"/>
            <a:pathLst>
              <a:path w="438299" h="529812">
                <a:moveTo>
                  <a:pt x="0" y="0"/>
                </a:moveTo>
                <a:lnTo>
                  <a:pt x="438300" y="0"/>
                </a:lnTo>
                <a:lnTo>
                  <a:pt x="438300" y="529813"/>
                </a:lnTo>
                <a:lnTo>
                  <a:pt x="0" y="5298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6314892" y="359321"/>
            <a:ext cx="4056208" cy="2048723"/>
          </a:xfrm>
          <a:prstGeom prst="rect">
            <a:avLst/>
          </a:prstGeom>
        </p:spPr>
        <p:txBody>
          <a:bodyPr lIns="0" tIns="0" rIns="0" bIns="0" rtlCol="0" anchor="t">
            <a:spAutoFit/>
          </a:bodyPr>
          <a:lstStyle/>
          <a:p>
            <a:pPr algn="r">
              <a:lnSpc>
                <a:spcPts val="16753"/>
              </a:lnSpc>
            </a:pPr>
            <a:r>
              <a:rPr lang="en-US" sz="11966" b="1" spc="-239">
                <a:solidFill>
                  <a:srgbClr val="080708"/>
                </a:solidFill>
                <a:latin typeface="Open Sauce Bold"/>
                <a:ea typeface="Open Sauce Bold"/>
                <a:cs typeface="Open Sauce Bold"/>
                <a:sym typeface="Open Sauce Bold"/>
              </a:rPr>
              <a:t>Data</a:t>
            </a:r>
          </a:p>
        </p:txBody>
      </p:sp>
      <p:sp>
        <p:nvSpPr>
          <p:cNvPr id="18" name="TextBox 18"/>
          <p:cNvSpPr txBox="1"/>
          <p:nvPr/>
        </p:nvSpPr>
        <p:spPr>
          <a:xfrm>
            <a:off x="9088276" y="375831"/>
            <a:ext cx="7916899" cy="2032212"/>
          </a:xfrm>
          <a:prstGeom prst="rect">
            <a:avLst/>
          </a:prstGeom>
        </p:spPr>
        <p:txBody>
          <a:bodyPr lIns="0" tIns="0" rIns="0" bIns="0" rtlCol="0" anchor="t">
            <a:spAutoFit/>
          </a:bodyPr>
          <a:lstStyle/>
          <a:p>
            <a:pPr algn="r">
              <a:lnSpc>
                <a:spcPts val="16613"/>
              </a:lnSpc>
            </a:pPr>
            <a:r>
              <a:rPr lang="en-US" sz="11866" spc="-237">
                <a:solidFill>
                  <a:srgbClr val="31DAFF"/>
                </a:solidFill>
                <a:latin typeface="Open Sauce"/>
                <a:ea typeface="Open Sauce"/>
                <a:cs typeface="Open Sauce"/>
                <a:sym typeface="Open Sauce"/>
              </a:rPr>
              <a:t>Overview</a:t>
            </a:r>
          </a:p>
        </p:txBody>
      </p:sp>
      <p:sp>
        <p:nvSpPr>
          <p:cNvPr id="19" name="TextBox 19"/>
          <p:cNvSpPr txBox="1"/>
          <p:nvPr/>
        </p:nvSpPr>
        <p:spPr>
          <a:xfrm>
            <a:off x="4830624" y="4770167"/>
            <a:ext cx="4012318" cy="3233420"/>
          </a:xfrm>
          <a:prstGeom prst="rect">
            <a:avLst/>
          </a:prstGeom>
        </p:spPr>
        <p:txBody>
          <a:bodyPr lIns="0" tIns="0" rIns="0" bIns="0" rtlCol="0" anchor="t">
            <a:spAutoFit/>
          </a:bodyPr>
          <a:lstStyle/>
          <a:p>
            <a:pPr marL="367031" lvl="1" indent="-183515" algn="l">
              <a:lnSpc>
                <a:spcPts val="2380"/>
              </a:lnSpc>
              <a:buFont typeface="Arial"/>
              <a:buChar char="•"/>
            </a:pPr>
            <a:r>
              <a:rPr lang="en-US" sz="1700" spc="-86">
                <a:solidFill>
                  <a:srgbClr val="212121"/>
                </a:solidFill>
                <a:latin typeface="Open Sauce"/>
                <a:ea typeface="Open Sauce"/>
                <a:cs typeface="Open Sauce"/>
                <a:sym typeface="Open Sauce"/>
              </a:rPr>
              <a:t>Dataset contains 28,027 customer interaction records</a:t>
            </a:r>
          </a:p>
          <a:p>
            <a:pPr marL="367031" lvl="1" indent="-183515" algn="l">
              <a:lnSpc>
                <a:spcPts val="2380"/>
              </a:lnSpc>
              <a:buFont typeface="Arial"/>
              <a:buChar char="•"/>
            </a:pPr>
            <a:r>
              <a:rPr lang="en-US" sz="1700" spc="-86">
                <a:solidFill>
                  <a:srgbClr val="212121"/>
                </a:solidFill>
                <a:latin typeface="Open Sauce"/>
                <a:ea typeface="Open Sauce"/>
                <a:cs typeface="Open Sauce"/>
                <a:sym typeface="Open Sauce"/>
              </a:rPr>
              <a:t>Includes calls, chats, ratings, revenue, and agents information</a:t>
            </a:r>
          </a:p>
          <a:p>
            <a:pPr marL="367031" lvl="1" indent="-183515" algn="l">
              <a:lnSpc>
                <a:spcPts val="2380"/>
              </a:lnSpc>
              <a:buFont typeface="Arial"/>
              <a:buChar char="•"/>
            </a:pPr>
            <a:r>
              <a:rPr lang="en-US" sz="1700" spc="-86">
                <a:solidFill>
                  <a:srgbClr val="212121"/>
                </a:solidFill>
                <a:latin typeface="Open Sauce"/>
                <a:ea typeface="Open Sauce"/>
                <a:cs typeface="Open Sauce"/>
                <a:sym typeface="Open Sauce"/>
              </a:rPr>
              <a:t>Covers platform usage and time-based activity</a:t>
            </a:r>
          </a:p>
          <a:p>
            <a:pPr marL="367031" lvl="1" indent="-183515" algn="l">
              <a:lnSpc>
                <a:spcPts val="2380"/>
              </a:lnSpc>
              <a:buFont typeface="Arial"/>
              <a:buChar char="•"/>
            </a:pPr>
            <a:r>
              <a:rPr lang="en-US" sz="1700" spc="-86">
                <a:solidFill>
                  <a:srgbClr val="212121"/>
                </a:solidFill>
                <a:latin typeface="Open Sauce"/>
                <a:ea typeface="Open Sauce"/>
                <a:cs typeface="Open Sauce"/>
                <a:sym typeface="Open Sauce"/>
              </a:rPr>
              <a:t>Provides performance and service quality indicators</a:t>
            </a:r>
          </a:p>
          <a:p>
            <a:pPr marL="367031" lvl="1" indent="-183515" algn="l">
              <a:lnSpc>
                <a:spcPts val="2380"/>
              </a:lnSpc>
              <a:buFont typeface="Arial"/>
              <a:buChar char="•"/>
            </a:pPr>
            <a:r>
              <a:rPr lang="en-US" sz="1700" spc="-86">
                <a:solidFill>
                  <a:srgbClr val="212121"/>
                </a:solidFill>
                <a:latin typeface="Open Sauce"/>
                <a:ea typeface="Open Sauce"/>
                <a:cs typeface="Open Sauce"/>
                <a:sym typeface="Open Sauce"/>
              </a:rPr>
              <a:t>Enables detailed operational trend analysis</a:t>
            </a:r>
          </a:p>
          <a:p>
            <a:pPr algn="l">
              <a:lnSpc>
                <a:spcPts val="2380"/>
              </a:lnSpc>
            </a:pPr>
            <a:endParaRPr lang="en-US" sz="1700" spc="-86">
              <a:solidFill>
                <a:srgbClr val="212121"/>
              </a:solidFill>
              <a:latin typeface="Open Sauce"/>
              <a:ea typeface="Open Sauce"/>
              <a:cs typeface="Open Sauce"/>
              <a:sym typeface="Open Sauce"/>
            </a:endParaRPr>
          </a:p>
        </p:txBody>
      </p:sp>
      <p:sp>
        <p:nvSpPr>
          <p:cNvPr id="20" name="TextBox 20"/>
          <p:cNvSpPr txBox="1"/>
          <p:nvPr/>
        </p:nvSpPr>
        <p:spPr>
          <a:xfrm>
            <a:off x="5182239" y="3550593"/>
            <a:ext cx="3204695" cy="504825"/>
          </a:xfrm>
          <a:prstGeom prst="rect">
            <a:avLst/>
          </a:prstGeom>
        </p:spPr>
        <p:txBody>
          <a:bodyPr lIns="0" tIns="0" rIns="0" bIns="0" rtlCol="0" anchor="t">
            <a:spAutoFit/>
          </a:bodyPr>
          <a:lstStyle/>
          <a:p>
            <a:pPr algn="l">
              <a:lnSpc>
                <a:spcPts val="4199"/>
              </a:lnSpc>
            </a:pPr>
            <a:r>
              <a:rPr lang="en-US" sz="2999" spc="-152">
                <a:solidFill>
                  <a:srgbClr val="212121"/>
                </a:solidFill>
                <a:latin typeface="Open Sauce"/>
                <a:ea typeface="Open Sauce"/>
                <a:cs typeface="Open Sauce"/>
                <a:sym typeface="Open Sauce"/>
              </a:rPr>
              <a:t>Dataset Summary</a:t>
            </a:r>
          </a:p>
        </p:txBody>
      </p:sp>
      <p:sp>
        <p:nvSpPr>
          <p:cNvPr id="21" name="TextBox 21"/>
          <p:cNvSpPr txBox="1"/>
          <p:nvPr/>
        </p:nvSpPr>
        <p:spPr>
          <a:xfrm>
            <a:off x="14029079" y="4770167"/>
            <a:ext cx="3844510" cy="2599055"/>
          </a:xfrm>
          <a:prstGeom prst="rect">
            <a:avLst/>
          </a:prstGeom>
        </p:spPr>
        <p:txBody>
          <a:bodyPr lIns="0" tIns="0" rIns="0" bIns="0" rtlCol="0" anchor="t">
            <a:spAutoFit/>
          </a:bodyPr>
          <a:lstStyle/>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Enables analysis across operational efficiency, customer experience, and revenue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Provides agent-level and time-based insights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Forms the foundation for data-driven decision-making and investment strategy</a:t>
            </a:r>
          </a:p>
          <a:p>
            <a:pPr algn="l">
              <a:lnSpc>
                <a:spcPts val="1960"/>
              </a:lnSpc>
            </a:pPr>
            <a:endParaRPr lang="en-US" sz="1699" spc="-86">
              <a:solidFill>
                <a:srgbClr val="212121"/>
              </a:solidFill>
              <a:latin typeface="Open Sauce"/>
              <a:ea typeface="Open Sauce"/>
              <a:cs typeface="Open Sauce"/>
              <a:sym typeface="Open Sauce"/>
            </a:endParaRPr>
          </a:p>
        </p:txBody>
      </p:sp>
      <p:sp>
        <p:nvSpPr>
          <p:cNvPr id="22" name="TextBox 22"/>
          <p:cNvSpPr txBox="1"/>
          <p:nvPr/>
        </p:nvSpPr>
        <p:spPr>
          <a:xfrm>
            <a:off x="14438654" y="3550593"/>
            <a:ext cx="3204695" cy="1028700"/>
          </a:xfrm>
          <a:prstGeom prst="rect">
            <a:avLst/>
          </a:prstGeom>
        </p:spPr>
        <p:txBody>
          <a:bodyPr lIns="0" tIns="0" rIns="0" bIns="0" rtlCol="0" anchor="t">
            <a:spAutoFit/>
          </a:bodyPr>
          <a:lstStyle/>
          <a:p>
            <a:pPr algn="ctr">
              <a:lnSpc>
                <a:spcPts val="4199"/>
              </a:lnSpc>
            </a:pPr>
            <a:r>
              <a:rPr lang="en-US" sz="2999" spc="-152">
                <a:solidFill>
                  <a:srgbClr val="212121"/>
                </a:solidFill>
                <a:latin typeface="Open Sauce"/>
                <a:ea typeface="Open Sauce"/>
                <a:cs typeface="Open Sauce"/>
                <a:sym typeface="Open Sauce"/>
              </a:rPr>
              <a:t>Why This Data Matters</a:t>
            </a:r>
          </a:p>
        </p:txBody>
      </p:sp>
      <p:sp>
        <p:nvSpPr>
          <p:cNvPr id="23" name="TextBox 23"/>
          <p:cNvSpPr txBox="1"/>
          <p:nvPr/>
        </p:nvSpPr>
        <p:spPr>
          <a:xfrm>
            <a:off x="9206694" y="4770167"/>
            <a:ext cx="4411009" cy="4119245"/>
          </a:xfrm>
          <a:prstGeom prst="rect">
            <a:avLst/>
          </a:prstGeom>
        </p:spPr>
        <p:txBody>
          <a:bodyPr lIns="0" tIns="0" rIns="0" bIns="0" rtlCol="0" anchor="t">
            <a:spAutoFit/>
          </a:bodyPr>
          <a:lstStyle/>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Removed duplicates and handled missing/inconsistent values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Standardized key fields: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Status fields (call/chat → “Unknown”, “No Status”)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Earnings/duration fields → replaced blanks with 0 / N/A</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Cleaned text fields using TRIM()</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Created derived features: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Hour, Month-Year, Peak vs Non-Peak</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Workload category (Overloaded / Balanced / Underutilized)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Removed irrelevant columns</a:t>
            </a:r>
          </a:p>
          <a:p>
            <a:pPr algn="l">
              <a:lnSpc>
                <a:spcPts val="2379"/>
              </a:lnSpc>
            </a:pPr>
            <a:endParaRPr lang="en-US" sz="1699" spc="-86">
              <a:solidFill>
                <a:srgbClr val="212121"/>
              </a:solidFill>
              <a:latin typeface="Open Sauce"/>
              <a:ea typeface="Open Sauce"/>
              <a:cs typeface="Open Sauce"/>
              <a:sym typeface="Open Sauce"/>
            </a:endParaRPr>
          </a:p>
        </p:txBody>
      </p:sp>
      <p:sp>
        <p:nvSpPr>
          <p:cNvPr id="24" name="TextBox 24"/>
          <p:cNvSpPr txBox="1"/>
          <p:nvPr/>
        </p:nvSpPr>
        <p:spPr>
          <a:xfrm>
            <a:off x="9809851" y="3550593"/>
            <a:ext cx="3204695" cy="1028700"/>
          </a:xfrm>
          <a:prstGeom prst="rect">
            <a:avLst/>
          </a:prstGeom>
        </p:spPr>
        <p:txBody>
          <a:bodyPr lIns="0" tIns="0" rIns="0" bIns="0" rtlCol="0" anchor="t">
            <a:spAutoFit/>
          </a:bodyPr>
          <a:lstStyle/>
          <a:p>
            <a:pPr algn="ctr">
              <a:lnSpc>
                <a:spcPts val="4199"/>
              </a:lnSpc>
            </a:pPr>
            <a:r>
              <a:rPr lang="en-US" sz="2999" spc="-152">
                <a:solidFill>
                  <a:srgbClr val="212121"/>
                </a:solidFill>
                <a:latin typeface="Open Sauce"/>
                <a:ea typeface="Open Sauce"/>
                <a:cs typeface="Open Sauce"/>
                <a:sym typeface="Open Sauce"/>
              </a:rPr>
              <a:t>Data Cleaning &amp; Preparation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95565" y="7741620"/>
            <a:ext cx="9444204" cy="1892299"/>
          </a:xfrm>
          <a:prstGeom prst="rect">
            <a:avLst/>
          </a:prstGeom>
        </p:spPr>
        <p:txBody>
          <a:bodyPr lIns="0" tIns="0" rIns="0" bIns="0" rtlCol="0" anchor="t">
            <a:spAutoFit/>
          </a:bodyPr>
          <a:lstStyle/>
          <a:p>
            <a:pPr algn="l">
              <a:lnSpc>
                <a:spcPts val="15400"/>
              </a:lnSpc>
            </a:pPr>
            <a:r>
              <a:rPr lang="en-US" sz="11000" b="1" spc="-220">
                <a:solidFill>
                  <a:srgbClr val="080708"/>
                </a:solidFill>
                <a:latin typeface="Open Sauce Bold"/>
                <a:ea typeface="Open Sauce Bold"/>
                <a:cs typeface="Open Sauce Bold"/>
                <a:sym typeface="Open Sauce Bold"/>
              </a:rPr>
              <a:t>Methodology</a:t>
            </a:r>
          </a:p>
        </p:txBody>
      </p:sp>
      <p:sp>
        <p:nvSpPr>
          <p:cNvPr id="3" name="Freeform 3"/>
          <p:cNvSpPr/>
          <p:nvPr/>
        </p:nvSpPr>
        <p:spPr>
          <a:xfrm rot="-5400000">
            <a:off x="16649649" y="2576321"/>
            <a:ext cx="552022" cy="667279"/>
          </a:xfrm>
          <a:custGeom>
            <a:avLst/>
            <a:gdLst/>
            <a:ahLst/>
            <a:cxnLst/>
            <a:rect l="l" t="t" r="r" b="b"/>
            <a:pathLst>
              <a:path w="552022" h="667279">
                <a:moveTo>
                  <a:pt x="0" y="0"/>
                </a:moveTo>
                <a:lnTo>
                  <a:pt x="552022" y="0"/>
                </a:lnTo>
                <a:lnTo>
                  <a:pt x="552022" y="667280"/>
                </a:lnTo>
                <a:lnTo>
                  <a:pt x="0" y="66728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 name="Group 4"/>
          <p:cNvGrpSpPr/>
          <p:nvPr/>
        </p:nvGrpSpPr>
        <p:grpSpPr>
          <a:xfrm>
            <a:off x="1028700" y="1610112"/>
            <a:ext cx="4587228" cy="5192800"/>
            <a:chOff x="0" y="0"/>
            <a:chExt cx="1208159" cy="1367651"/>
          </a:xfrm>
        </p:grpSpPr>
        <p:sp>
          <p:nvSpPr>
            <p:cNvPr id="5" name="Freeform 5"/>
            <p:cNvSpPr/>
            <p:nvPr/>
          </p:nvSpPr>
          <p:spPr>
            <a:xfrm>
              <a:off x="0" y="0"/>
              <a:ext cx="1208159" cy="1367651"/>
            </a:xfrm>
            <a:custGeom>
              <a:avLst/>
              <a:gdLst/>
              <a:ahLst/>
              <a:cxnLst/>
              <a:rect l="l" t="t" r="r" b="b"/>
              <a:pathLst>
                <a:path w="1208159" h="1367651">
                  <a:moveTo>
                    <a:pt x="0" y="0"/>
                  </a:moveTo>
                  <a:lnTo>
                    <a:pt x="1208159" y="0"/>
                  </a:lnTo>
                  <a:lnTo>
                    <a:pt x="1208159" y="1367651"/>
                  </a:lnTo>
                  <a:lnTo>
                    <a:pt x="0" y="1367651"/>
                  </a:lnTo>
                  <a:close/>
                </a:path>
              </a:pathLst>
            </a:custGeom>
            <a:ln w="19050" cap="sq">
              <a:solidFill>
                <a:srgbClr val="000000"/>
              </a:solidFill>
              <a:prstDash val="solid"/>
              <a:miter/>
            </a:ln>
          </p:spPr>
        </p:sp>
        <p:sp>
          <p:nvSpPr>
            <p:cNvPr id="6" name="TextBox 6"/>
            <p:cNvSpPr txBox="1"/>
            <p:nvPr/>
          </p:nvSpPr>
          <p:spPr>
            <a:xfrm>
              <a:off x="0" y="47625"/>
              <a:ext cx="1208159" cy="1320026"/>
            </a:xfrm>
            <a:prstGeom prst="rect">
              <a:avLst/>
            </a:prstGeom>
          </p:spPr>
          <p:txBody>
            <a:bodyPr lIns="50800" tIns="50800" rIns="50800" bIns="50800" rtlCol="0" anchor="ctr"/>
            <a:lstStyle/>
            <a:p>
              <a:pPr algn="ctr">
                <a:lnSpc>
                  <a:spcPts val="1134"/>
                </a:lnSpc>
              </a:pPr>
              <a:endParaRPr/>
            </a:p>
          </p:txBody>
        </p:sp>
      </p:grpSp>
      <p:sp>
        <p:nvSpPr>
          <p:cNvPr id="7" name="TextBox 7"/>
          <p:cNvSpPr txBox="1"/>
          <p:nvPr/>
        </p:nvSpPr>
        <p:spPr>
          <a:xfrm>
            <a:off x="1571377" y="3157397"/>
            <a:ext cx="3358752" cy="2642870"/>
          </a:xfrm>
          <a:prstGeom prst="rect">
            <a:avLst/>
          </a:prstGeom>
        </p:spPr>
        <p:txBody>
          <a:bodyPr lIns="0" tIns="0" rIns="0" bIns="0" rtlCol="0" anchor="t">
            <a:spAutoFit/>
          </a:bodyPr>
          <a:lstStyle/>
          <a:p>
            <a:pPr algn="l">
              <a:lnSpc>
                <a:spcPts val="2379"/>
              </a:lnSpc>
            </a:pPr>
            <a:r>
              <a:rPr lang="en-US" sz="1699" spc="-86">
                <a:solidFill>
                  <a:srgbClr val="212121"/>
                </a:solidFill>
                <a:latin typeface="Open Sauce"/>
                <a:ea typeface="Open Sauce"/>
                <a:cs typeface="Open Sauce"/>
                <a:sym typeface="Open Sauce"/>
              </a:rPr>
              <a:t>Followed a structured approach covering:</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Data Cleaning &amp; Preparation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Feature Engineering (derived variables)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Exploratory Data Analysis (EDA)</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Insight generation &amp; recommendation building</a:t>
            </a:r>
          </a:p>
          <a:p>
            <a:pPr algn="l">
              <a:lnSpc>
                <a:spcPts val="2379"/>
              </a:lnSpc>
            </a:pPr>
            <a:endParaRPr lang="en-US" sz="1699" spc="-86">
              <a:solidFill>
                <a:srgbClr val="212121"/>
              </a:solidFill>
              <a:latin typeface="Open Sauce"/>
              <a:ea typeface="Open Sauce"/>
              <a:cs typeface="Open Sauce"/>
              <a:sym typeface="Open Sauce"/>
            </a:endParaRPr>
          </a:p>
        </p:txBody>
      </p:sp>
      <p:sp>
        <p:nvSpPr>
          <p:cNvPr id="8" name="AutoShape 8"/>
          <p:cNvSpPr/>
          <p:nvPr/>
        </p:nvSpPr>
        <p:spPr>
          <a:xfrm>
            <a:off x="1028700" y="2820287"/>
            <a:ext cx="4562322" cy="0"/>
          </a:xfrm>
          <a:prstGeom prst="line">
            <a:avLst/>
          </a:prstGeom>
          <a:ln w="19050" cap="flat">
            <a:solidFill>
              <a:srgbClr val="000000"/>
            </a:solidFill>
            <a:prstDash val="solid"/>
            <a:headEnd type="none" w="sm" len="sm"/>
            <a:tailEnd type="none" w="sm" len="sm"/>
          </a:ln>
        </p:spPr>
      </p:sp>
      <p:sp>
        <p:nvSpPr>
          <p:cNvPr id="9" name="TextBox 9"/>
          <p:cNvSpPr txBox="1"/>
          <p:nvPr/>
        </p:nvSpPr>
        <p:spPr>
          <a:xfrm>
            <a:off x="1912953" y="1679327"/>
            <a:ext cx="2818722" cy="986155"/>
          </a:xfrm>
          <a:prstGeom prst="rect">
            <a:avLst/>
          </a:prstGeom>
        </p:spPr>
        <p:txBody>
          <a:bodyPr lIns="0" tIns="0" rIns="0" bIns="0" rtlCol="0" anchor="t">
            <a:spAutoFit/>
          </a:bodyPr>
          <a:lstStyle/>
          <a:p>
            <a:pPr algn="ctr">
              <a:lnSpc>
                <a:spcPts val="3919"/>
              </a:lnSpc>
            </a:pPr>
            <a:r>
              <a:rPr lang="en-US" sz="2799" spc="-142">
                <a:solidFill>
                  <a:srgbClr val="212121"/>
                </a:solidFill>
                <a:latin typeface="Open Sauce"/>
                <a:ea typeface="Open Sauce"/>
                <a:cs typeface="Open Sauce"/>
                <a:sym typeface="Open Sauce"/>
              </a:rPr>
              <a:t>Analytical Approach</a:t>
            </a:r>
          </a:p>
        </p:txBody>
      </p:sp>
      <p:grpSp>
        <p:nvGrpSpPr>
          <p:cNvPr id="10" name="Group 10"/>
          <p:cNvGrpSpPr/>
          <p:nvPr/>
        </p:nvGrpSpPr>
        <p:grpSpPr>
          <a:xfrm>
            <a:off x="5901678" y="1610112"/>
            <a:ext cx="4777607" cy="5192800"/>
            <a:chOff x="0" y="0"/>
            <a:chExt cx="1258300" cy="1367651"/>
          </a:xfrm>
        </p:grpSpPr>
        <p:sp>
          <p:nvSpPr>
            <p:cNvPr id="11" name="Freeform 11"/>
            <p:cNvSpPr/>
            <p:nvPr/>
          </p:nvSpPr>
          <p:spPr>
            <a:xfrm>
              <a:off x="0" y="0"/>
              <a:ext cx="1258300" cy="1367651"/>
            </a:xfrm>
            <a:custGeom>
              <a:avLst/>
              <a:gdLst/>
              <a:ahLst/>
              <a:cxnLst/>
              <a:rect l="l" t="t" r="r" b="b"/>
              <a:pathLst>
                <a:path w="1258300" h="1367651">
                  <a:moveTo>
                    <a:pt x="0" y="0"/>
                  </a:moveTo>
                  <a:lnTo>
                    <a:pt x="1258300" y="0"/>
                  </a:lnTo>
                  <a:lnTo>
                    <a:pt x="1258300" y="1367651"/>
                  </a:lnTo>
                  <a:lnTo>
                    <a:pt x="0" y="1367651"/>
                  </a:lnTo>
                  <a:close/>
                </a:path>
              </a:pathLst>
            </a:custGeom>
            <a:ln w="19050" cap="sq">
              <a:solidFill>
                <a:srgbClr val="080708"/>
              </a:solidFill>
              <a:prstDash val="solid"/>
              <a:miter/>
            </a:ln>
          </p:spPr>
        </p:sp>
        <p:sp>
          <p:nvSpPr>
            <p:cNvPr id="12" name="TextBox 12"/>
            <p:cNvSpPr txBox="1"/>
            <p:nvPr/>
          </p:nvSpPr>
          <p:spPr>
            <a:xfrm>
              <a:off x="0" y="47625"/>
              <a:ext cx="1258300" cy="1320026"/>
            </a:xfrm>
            <a:prstGeom prst="rect">
              <a:avLst/>
            </a:prstGeom>
          </p:spPr>
          <p:txBody>
            <a:bodyPr lIns="50800" tIns="50800" rIns="50800" bIns="50800" rtlCol="0" anchor="ctr"/>
            <a:lstStyle/>
            <a:p>
              <a:pPr algn="ctr">
                <a:lnSpc>
                  <a:spcPts val="1134"/>
                </a:lnSpc>
              </a:pPr>
              <a:endParaRPr/>
            </a:p>
          </p:txBody>
        </p:sp>
      </p:grpSp>
      <p:sp>
        <p:nvSpPr>
          <p:cNvPr id="13" name="AutoShape 13"/>
          <p:cNvSpPr/>
          <p:nvPr/>
        </p:nvSpPr>
        <p:spPr>
          <a:xfrm>
            <a:off x="5901678" y="2820287"/>
            <a:ext cx="4733461" cy="0"/>
          </a:xfrm>
          <a:prstGeom prst="line">
            <a:avLst/>
          </a:prstGeom>
          <a:ln w="19050" cap="flat">
            <a:solidFill>
              <a:srgbClr val="000000"/>
            </a:solidFill>
            <a:prstDash val="solid"/>
            <a:headEnd type="none" w="sm" len="sm"/>
            <a:tailEnd type="none" w="sm" len="sm"/>
          </a:ln>
        </p:spPr>
      </p:sp>
      <p:sp>
        <p:nvSpPr>
          <p:cNvPr id="14" name="TextBox 14"/>
          <p:cNvSpPr txBox="1"/>
          <p:nvPr/>
        </p:nvSpPr>
        <p:spPr>
          <a:xfrm>
            <a:off x="6881121" y="1679327"/>
            <a:ext cx="2818722" cy="986155"/>
          </a:xfrm>
          <a:prstGeom prst="rect">
            <a:avLst/>
          </a:prstGeom>
        </p:spPr>
        <p:txBody>
          <a:bodyPr lIns="0" tIns="0" rIns="0" bIns="0" rtlCol="0" anchor="t">
            <a:spAutoFit/>
          </a:bodyPr>
          <a:lstStyle/>
          <a:p>
            <a:pPr algn="ctr">
              <a:lnSpc>
                <a:spcPts val="3919"/>
              </a:lnSpc>
            </a:pPr>
            <a:r>
              <a:rPr lang="en-US" sz="2799" spc="-142">
                <a:solidFill>
                  <a:srgbClr val="212121"/>
                </a:solidFill>
                <a:latin typeface="Open Sauce"/>
                <a:ea typeface="Open Sauce"/>
                <a:cs typeface="Open Sauce"/>
                <a:sym typeface="Open Sauce"/>
              </a:rPr>
              <a:t>Key Analysis Performed</a:t>
            </a:r>
          </a:p>
        </p:txBody>
      </p:sp>
      <p:sp>
        <p:nvSpPr>
          <p:cNvPr id="15" name="TextBox 15"/>
          <p:cNvSpPr txBox="1"/>
          <p:nvPr/>
        </p:nvSpPr>
        <p:spPr>
          <a:xfrm>
            <a:off x="6108504" y="3157397"/>
            <a:ext cx="4363955" cy="3233420"/>
          </a:xfrm>
          <a:prstGeom prst="rect">
            <a:avLst/>
          </a:prstGeom>
        </p:spPr>
        <p:txBody>
          <a:bodyPr lIns="0" tIns="0" rIns="0" bIns="0" rtlCol="0" anchor="t">
            <a:spAutoFit/>
          </a:bodyPr>
          <a:lstStyle/>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Operational Analysis: Call/chat status distribution, completion rates, no-answer rates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Customer Experience Analysis: Average ratings by channel and time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Monthly trends in satisfaction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Workforce Analysis: Agent workload distribution (Overloaded vs Underutilized)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Revenue Analysis: Revenue by channel and platform</a:t>
            </a:r>
          </a:p>
          <a:p>
            <a:pPr algn="l">
              <a:lnSpc>
                <a:spcPts val="2379"/>
              </a:lnSpc>
            </a:pPr>
            <a:endParaRPr lang="en-US" sz="1699" spc="-86">
              <a:solidFill>
                <a:srgbClr val="212121"/>
              </a:solidFill>
              <a:latin typeface="Open Sauce"/>
              <a:ea typeface="Open Sauce"/>
              <a:cs typeface="Open Sauce"/>
              <a:sym typeface="Open Sauce"/>
            </a:endParaRPr>
          </a:p>
        </p:txBody>
      </p:sp>
      <p:grpSp>
        <p:nvGrpSpPr>
          <p:cNvPr id="16" name="Group 16"/>
          <p:cNvGrpSpPr/>
          <p:nvPr/>
        </p:nvGrpSpPr>
        <p:grpSpPr>
          <a:xfrm>
            <a:off x="10965630" y="1610112"/>
            <a:ext cx="4708519" cy="5192800"/>
            <a:chOff x="0" y="0"/>
            <a:chExt cx="1240104" cy="1367651"/>
          </a:xfrm>
        </p:grpSpPr>
        <p:sp>
          <p:nvSpPr>
            <p:cNvPr id="17" name="Freeform 17"/>
            <p:cNvSpPr/>
            <p:nvPr/>
          </p:nvSpPr>
          <p:spPr>
            <a:xfrm>
              <a:off x="0" y="0"/>
              <a:ext cx="1240104" cy="1367651"/>
            </a:xfrm>
            <a:custGeom>
              <a:avLst/>
              <a:gdLst/>
              <a:ahLst/>
              <a:cxnLst/>
              <a:rect l="l" t="t" r="r" b="b"/>
              <a:pathLst>
                <a:path w="1240104" h="1367651">
                  <a:moveTo>
                    <a:pt x="0" y="0"/>
                  </a:moveTo>
                  <a:lnTo>
                    <a:pt x="1240104" y="0"/>
                  </a:lnTo>
                  <a:lnTo>
                    <a:pt x="1240104" y="1367651"/>
                  </a:lnTo>
                  <a:lnTo>
                    <a:pt x="0" y="1367651"/>
                  </a:lnTo>
                  <a:close/>
                </a:path>
              </a:pathLst>
            </a:custGeom>
            <a:ln w="19050" cap="sq">
              <a:solidFill>
                <a:srgbClr val="000000"/>
              </a:solidFill>
              <a:prstDash val="solid"/>
              <a:miter/>
            </a:ln>
          </p:spPr>
        </p:sp>
        <p:sp>
          <p:nvSpPr>
            <p:cNvPr id="18" name="TextBox 18"/>
            <p:cNvSpPr txBox="1"/>
            <p:nvPr/>
          </p:nvSpPr>
          <p:spPr>
            <a:xfrm>
              <a:off x="0" y="47625"/>
              <a:ext cx="1240104" cy="1320026"/>
            </a:xfrm>
            <a:prstGeom prst="rect">
              <a:avLst/>
            </a:prstGeom>
          </p:spPr>
          <p:txBody>
            <a:bodyPr lIns="50800" tIns="50800" rIns="50800" bIns="50800" rtlCol="0" anchor="ctr"/>
            <a:lstStyle/>
            <a:p>
              <a:pPr algn="ctr">
                <a:lnSpc>
                  <a:spcPts val="1134"/>
                </a:lnSpc>
              </a:pPr>
              <a:endParaRPr/>
            </a:p>
          </p:txBody>
        </p:sp>
      </p:grpSp>
      <p:sp>
        <p:nvSpPr>
          <p:cNvPr id="19" name="TextBox 19"/>
          <p:cNvSpPr txBox="1"/>
          <p:nvPr/>
        </p:nvSpPr>
        <p:spPr>
          <a:xfrm>
            <a:off x="11170490" y="3157397"/>
            <a:ext cx="4298798" cy="3528695"/>
          </a:xfrm>
          <a:prstGeom prst="rect">
            <a:avLst/>
          </a:prstGeom>
        </p:spPr>
        <p:txBody>
          <a:bodyPr lIns="0" tIns="0" rIns="0" bIns="0" rtlCol="0" anchor="t">
            <a:spAutoFit/>
          </a:bodyPr>
          <a:lstStyle/>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Pivot Tables &amp; Charts → for aggregation and visualization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Excel Functions: IF(), IFERROR() → data cleaning &amp; classification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COUNTIFS(), AVERAGEIFS() → metric calculations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HOUR(), TEXT() → time-based feature creation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TRIM() → text cleaning</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Slicers &amp; Dashboarding → interactive analysis</a:t>
            </a:r>
          </a:p>
          <a:p>
            <a:pPr algn="l">
              <a:lnSpc>
                <a:spcPts val="2379"/>
              </a:lnSpc>
            </a:pPr>
            <a:endParaRPr lang="en-US" sz="1699" spc="-86">
              <a:solidFill>
                <a:srgbClr val="212121"/>
              </a:solidFill>
              <a:latin typeface="Open Sauce"/>
              <a:ea typeface="Open Sauce"/>
              <a:cs typeface="Open Sauce"/>
              <a:sym typeface="Open Sauce"/>
            </a:endParaRPr>
          </a:p>
        </p:txBody>
      </p:sp>
      <p:sp>
        <p:nvSpPr>
          <p:cNvPr id="20" name="AutoShape 20"/>
          <p:cNvSpPr/>
          <p:nvPr/>
        </p:nvSpPr>
        <p:spPr>
          <a:xfrm flipV="1">
            <a:off x="10965630" y="2820287"/>
            <a:ext cx="4684205" cy="9525"/>
          </a:xfrm>
          <a:prstGeom prst="line">
            <a:avLst/>
          </a:prstGeom>
          <a:ln w="19050" cap="flat">
            <a:solidFill>
              <a:srgbClr val="000000"/>
            </a:solidFill>
            <a:prstDash val="solid"/>
            <a:headEnd type="none" w="sm" len="sm"/>
            <a:tailEnd type="none" w="sm" len="sm"/>
          </a:ln>
        </p:spPr>
      </p:sp>
      <p:sp>
        <p:nvSpPr>
          <p:cNvPr id="21" name="TextBox 21"/>
          <p:cNvSpPr txBox="1"/>
          <p:nvPr/>
        </p:nvSpPr>
        <p:spPr>
          <a:xfrm>
            <a:off x="11910528" y="1679327"/>
            <a:ext cx="2818722" cy="986155"/>
          </a:xfrm>
          <a:prstGeom prst="rect">
            <a:avLst/>
          </a:prstGeom>
        </p:spPr>
        <p:txBody>
          <a:bodyPr lIns="0" tIns="0" rIns="0" bIns="0" rtlCol="0" anchor="t">
            <a:spAutoFit/>
          </a:bodyPr>
          <a:lstStyle/>
          <a:p>
            <a:pPr algn="ctr">
              <a:lnSpc>
                <a:spcPts val="3919"/>
              </a:lnSpc>
            </a:pPr>
            <a:r>
              <a:rPr lang="en-US" sz="2799" spc="-142">
                <a:solidFill>
                  <a:srgbClr val="212121"/>
                </a:solidFill>
                <a:latin typeface="Open Sauce"/>
                <a:ea typeface="Open Sauce"/>
                <a:cs typeface="Open Sauce"/>
                <a:sym typeface="Open Sauce"/>
              </a:rPr>
              <a:t>Tools &amp; Functions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429767" y="4640567"/>
            <a:ext cx="7714233" cy="3741403"/>
          </a:xfrm>
          <a:custGeom>
            <a:avLst/>
            <a:gdLst/>
            <a:ahLst/>
            <a:cxnLst/>
            <a:rect l="l" t="t" r="r" b="b"/>
            <a:pathLst>
              <a:path w="7714233" h="3741403">
                <a:moveTo>
                  <a:pt x="0" y="0"/>
                </a:moveTo>
                <a:lnTo>
                  <a:pt x="7714233" y="0"/>
                </a:lnTo>
                <a:lnTo>
                  <a:pt x="7714233" y="3741403"/>
                </a:lnTo>
                <a:lnTo>
                  <a:pt x="0" y="3741403"/>
                </a:lnTo>
                <a:lnTo>
                  <a:pt x="0" y="0"/>
                </a:lnTo>
                <a:close/>
              </a:path>
            </a:pathLst>
          </a:custGeom>
          <a:blipFill>
            <a:blip r:embed="rId2"/>
            <a:stretch>
              <a:fillRect/>
            </a:stretch>
          </a:blipFill>
        </p:spPr>
      </p:sp>
      <p:sp>
        <p:nvSpPr>
          <p:cNvPr id="7" name="TextBox 7"/>
          <p:cNvSpPr txBox="1"/>
          <p:nvPr/>
        </p:nvSpPr>
        <p:spPr>
          <a:xfrm>
            <a:off x="2240297" y="2582053"/>
            <a:ext cx="6093172" cy="811530"/>
          </a:xfrm>
          <a:prstGeom prst="rect">
            <a:avLst/>
          </a:prstGeom>
        </p:spPr>
        <p:txBody>
          <a:bodyPr lIns="0" tIns="0" rIns="0" bIns="0" rtlCol="0" anchor="t">
            <a:spAutoFit/>
          </a:bodyPr>
          <a:lstStyle/>
          <a:p>
            <a:pPr algn="ctr">
              <a:lnSpc>
                <a:spcPts val="6719"/>
              </a:lnSpc>
            </a:pPr>
            <a:r>
              <a:rPr lang="en-US" sz="4800" b="1" spc="-244">
                <a:solidFill>
                  <a:srgbClr val="212121"/>
                </a:solidFill>
                <a:latin typeface="Open Sauce Bold"/>
                <a:ea typeface="Open Sauce Bold"/>
                <a:cs typeface="Open Sauce Bold"/>
                <a:sym typeface="Open Sauce Bold"/>
              </a:rPr>
              <a:t>Call Volume Trends</a:t>
            </a:r>
          </a:p>
        </p:txBody>
      </p:sp>
      <p:sp>
        <p:nvSpPr>
          <p:cNvPr id="8" name="TextBox 8"/>
          <p:cNvSpPr txBox="1"/>
          <p:nvPr/>
        </p:nvSpPr>
        <p:spPr>
          <a:xfrm>
            <a:off x="9891323" y="4611992"/>
            <a:ext cx="6925401" cy="264287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 demand shows high day-to-day volatility, indicating unpredictable workload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~95% volume concentrated in December → strong demand skew / possible data limitation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Sharp drop in January suggests seasonality or incomplete data capture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Workforce planning must be flexible to handle demand spikes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550091" y="4302862"/>
            <a:ext cx="7362630" cy="3838953"/>
          </a:xfrm>
          <a:custGeom>
            <a:avLst/>
            <a:gdLst/>
            <a:ahLst/>
            <a:cxnLst/>
            <a:rect l="l" t="t" r="r" b="b"/>
            <a:pathLst>
              <a:path w="7362630" h="3838953">
                <a:moveTo>
                  <a:pt x="0" y="0"/>
                </a:moveTo>
                <a:lnTo>
                  <a:pt x="7362629" y="0"/>
                </a:lnTo>
                <a:lnTo>
                  <a:pt x="7362629" y="3838953"/>
                </a:lnTo>
                <a:lnTo>
                  <a:pt x="0" y="3838953"/>
                </a:lnTo>
                <a:lnTo>
                  <a:pt x="0" y="0"/>
                </a:lnTo>
                <a:close/>
              </a:path>
            </a:pathLst>
          </a:custGeom>
          <a:blipFill>
            <a:blip r:embed="rId2"/>
            <a:stretch>
              <a:fillRect/>
            </a:stretch>
          </a:blipFill>
        </p:spPr>
      </p:sp>
      <p:sp>
        <p:nvSpPr>
          <p:cNvPr id="7" name="TextBox 7"/>
          <p:cNvSpPr txBox="1"/>
          <p:nvPr/>
        </p:nvSpPr>
        <p:spPr>
          <a:xfrm>
            <a:off x="2240297" y="2582053"/>
            <a:ext cx="6093172" cy="811530"/>
          </a:xfrm>
          <a:prstGeom prst="rect">
            <a:avLst/>
          </a:prstGeom>
        </p:spPr>
        <p:txBody>
          <a:bodyPr lIns="0" tIns="0" rIns="0" bIns="0" rtlCol="0" anchor="t">
            <a:spAutoFit/>
          </a:bodyPr>
          <a:lstStyle/>
          <a:p>
            <a:pPr algn="ctr">
              <a:lnSpc>
                <a:spcPts val="6719"/>
              </a:lnSpc>
            </a:pPr>
            <a:r>
              <a:rPr lang="en-US" sz="4800" b="1" spc="-244">
                <a:solidFill>
                  <a:srgbClr val="212121"/>
                </a:solidFill>
                <a:latin typeface="Open Sauce Bold"/>
                <a:ea typeface="Open Sauce Bold"/>
                <a:cs typeface="Open Sauce Bold"/>
                <a:sym typeface="Open Sauce Bold"/>
              </a:rPr>
              <a:t>Call Volume Trends</a:t>
            </a:r>
          </a:p>
        </p:txBody>
      </p:sp>
      <p:sp>
        <p:nvSpPr>
          <p:cNvPr id="8" name="TextBox 8"/>
          <p:cNvSpPr txBox="1"/>
          <p:nvPr/>
        </p:nvSpPr>
        <p:spPr>
          <a:xfrm>
            <a:off x="9865220" y="4886616"/>
            <a:ext cx="6925401" cy="264287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 demand shows high day-to-day volatility, indicating unpredictable workload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~95% volume concentrated in December → strong demand skew / possible data limitation</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Sharp drop in January suggests seasonality or incomplete data capture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Workforce planning must be flexible to handle demand spikes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394703" y="3927855"/>
            <a:ext cx="7749297" cy="4664024"/>
          </a:xfrm>
          <a:custGeom>
            <a:avLst/>
            <a:gdLst/>
            <a:ahLst/>
            <a:cxnLst/>
            <a:rect l="l" t="t" r="r" b="b"/>
            <a:pathLst>
              <a:path w="7749297" h="4664024">
                <a:moveTo>
                  <a:pt x="0" y="0"/>
                </a:moveTo>
                <a:lnTo>
                  <a:pt x="7749297" y="0"/>
                </a:lnTo>
                <a:lnTo>
                  <a:pt x="7749297" y="4664024"/>
                </a:lnTo>
                <a:lnTo>
                  <a:pt x="0" y="4664024"/>
                </a:lnTo>
                <a:lnTo>
                  <a:pt x="0" y="0"/>
                </a:lnTo>
                <a:close/>
              </a:path>
            </a:pathLst>
          </a:custGeom>
          <a:blipFill>
            <a:blip r:embed="rId2"/>
            <a:stretch>
              <a:fillRect/>
            </a:stretch>
          </a:blipFill>
        </p:spPr>
      </p:sp>
      <p:sp>
        <p:nvSpPr>
          <p:cNvPr id="7" name="TextBox 7"/>
          <p:cNvSpPr txBox="1"/>
          <p:nvPr/>
        </p:nvSpPr>
        <p:spPr>
          <a:xfrm>
            <a:off x="1887558" y="2582053"/>
            <a:ext cx="6798650" cy="811530"/>
          </a:xfrm>
          <a:prstGeom prst="rect">
            <a:avLst/>
          </a:prstGeom>
        </p:spPr>
        <p:txBody>
          <a:bodyPr lIns="0" tIns="0" rIns="0" bIns="0" rtlCol="0" anchor="t">
            <a:spAutoFit/>
          </a:bodyPr>
          <a:lstStyle/>
          <a:p>
            <a:pPr algn="ctr">
              <a:lnSpc>
                <a:spcPts val="6719"/>
              </a:lnSpc>
            </a:pPr>
            <a:r>
              <a:rPr lang="en-US" sz="4800" b="1" spc="-244">
                <a:solidFill>
                  <a:srgbClr val="212121"/>
                </a:solidFill>
                <a:latin typeface="Open Sauce Bold"/>
                <a:ea typeface="Open Sauce Bold"/>
                <a:cs typeface="Open Sauce Bold"/>
                <a:sym typeface="Open Sauce Bold"/>
              </a:rPr>
              <a:t>Revenue Analysis</a:t>
            </a:r>
          </a:p>
        </p:txBody>
      </p:sp>
      <p:sp>
        <p:nvSpPr>
          <p:cNvPr id="8" name="TextBox 8"/>
          <p:cNvSpPr txBox="1"/>
          <p:nvPr/>
        </p:nvSpPr>
        <p:spPr>
          <a:xfrm>
            <a:off x="9955452" y="4918808"/>
            <a:ext cx="6584122" cy="2347595"/>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Revenue is heavily skewed toward call-based consultations (~79%)</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Chat contributes only ~21% → under-monetized channel</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Significant drop in January revenue mirrors demand decline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Business is over-dependent on one channel → diversification needed</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666511" y="3924627"/>
            <a:ext cx="7240744" cy="4352149"/>
          </a:xfrm>
          <a:custGeom>
            <a:avLst/>
            <a:gdLst/>
            <a:ahLst/>
            <a:cxnLst/>
            <a:rect l="l" t="t" r="r" b="b"/>
            <a:pathLst>
              <a:path w="7240744" h="4352149">
                <a:moveTo>
                  <a:pt x="0" y="0"/>
                </a:moveTo>
                <a:lnTo>
                  <a:pt x="7240745" y="0"/>
                </a:lnTo>
                <a:lnTo>
                  <a:pt x="7240745" y="4352150"/>
                </a:lnTo>
                <a:lnTo>
                  <a:pt x="0" y="4352150"/>
                </a:lnTo>
                <a:lnTo>
                  <a:pt x="0" y="0"/>
                </a:lnTo>
                <a:close/>
              </a:path>
            </a:pathLst>
          </a:custGeom>
          <a:blipFill>
            <a:blip r:embed="rId2"/>
            <a:stretch>
              <a:fillRect/>
            </a:stretch>
          </a:blipFill>
        </p:spPr>
      </p:sp>
      <p:sp>
        <p:nvSpPr>
          <p:cNvPr id="7" name="TextBox 7"/>
          <p:cNvSpPr txBox="1"/>
          <p:nvPr/>
        </p:nvSpPr>
        <p:spPr>
          <a:xfrm>
            <a:off x="1887558" y="2582053"/>
            <a:ext cx="6798650" cy="811530"/>
          </a:xfrm>
          <a:prstGeom prst="rect">
            <a:avLst/>
          </a:prstGeom>
        </p:spPr>
        <p:txBody>
          <a:bodyPr lIns="0" tIns="0" rIns="0" bIns="0" rtlCol="0" anchor="t">
            <a:spAutoFit/>
          </a:bodyPr>
          <a:lstStyle/>
          <a:p>
            <a:pPr algn="ctr">
              <a:lnSpc>
                <a:spcPts val="6719"/>
              </a:lnSpc>
            </a:pPr>
            <a:r>
              <a:rPr lang="en-US" sz="4800" b="1" spc="-244">
                <a:solidFill>
                  <a:srgbClr val="212121"/>
                </a:solidFill>
                <a:latin typeface="Open Sauce Bold"/>
                <a:ea typeface="Open Sauce Bold"/>
                <a:cs typeface="Open Sauce Bold"/>
                <a:sym typeface="Open Sauce Bold"/>
              </a:rPr>
              <a:t>Revenue Analysis</a:t>
            </a:r>
          </a:p>
        </p:txBody>
      </p:sp>
      <p:sp>
        <p:nvSpPr>
          <p:cNvPr id="8" name="TextBox 8"/>
          <p:cNvSpPr txBox="1"/>
          <p:nvPr/>
        </p:nvSpPr>
        <p:spPr>
          <a:xfrm>
            <a:off x="10077337" y="4912617"/>
            <a:ext cx="6584122" cy="2347595"/>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Revenue is heavily skewed toward call-based consultations (~79%)</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Chat contributes only ~21% → under-monetized channel</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Significant drop in January revenue mirrors demand decline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Business is over-dependent on one channel → diversification needed</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642588" y="3812672"/>
            <a:ext cx="7376948" cy="4434016"/>
          </a:xfrm>
          <a:custGeom>
            <a:avLst/>
            <a:gdLst/>
            <a:ahLst/>
            <a:cxnLst/>
            <a:rect l="l" t="t" r="r" b="b"/>
            <a:pathLst>
              <a:path w="7376948" h="4434016">
                <a:moveTo>
                  <a:pt x="0" y="0"/>
                </a:moveTo>
                <a:lnTo>
                  <a:pt x="7376948" y="0"/>
                </a:lnTo>
                <a:lnTo>
                  <a:pt x="7376948" y="4434017"/>
                </a:lnTo>
                <a:lnTo>
                  <a:pt x="0" y="4434017"/>
                </a:lnTo>
                <a:lnTo>
                  <a:pt x="0" y="0"/>
                </a:lnTo>
                <a:close/>
              </a:path>
            </a:pathLst>
          </a:custGeom>
          <a:blipFill>
            <a:blip r:embed="rId2"/>
            <a:stretch>
              <a:fillRect/>
            </a:stretch>
          </a:blipFill>
        </p:spPr>
      </p:sp>
      <p:sp>
        <p:nvSpPr>
          <p:cNvPr id="7" name="TextBox 7"/>
          <p:cNvSpPr txBox="1"/>
          <p:nvPr/>
        </p:nvSpPr>
        <p:spPr>
          <a:xfrm>
            <a:off x="1642588" y="2591578"/>
            <a:ext cx="7501412" cy="678398"/>
          </a:xfrm>
          <a:prstGeom prst="rect">
            <a:avLst/>
          </a:prstGeom>
        </p:spPr>
        <p:txBody>
          <a:bodyPr lIns="0" tIns="0" rIns="0" bIns="0" rtlCol="0" anchor="t">
            <a:spAutoFit/>
          </a:bodyPr>
          <a:lstStyle/>
          <a:p>
            <a:pPr algn="ctr">
              <a:lnSpc>
                <a:spcPts val="5575"/>
              </a:lnSpc>
            </a:pPr>
            <a:r>
              <a:rPr lang="en-US" sz="3982" b="1" spc="-203">
                <a:solidFill>
                  <a:srgbClr val="212121"/>
                </a:solidFill>
                <a:latin typeface="Open Sauce Bold"/>
                <a:ea typeface="Open Sauce Bold"/>
                <a:cs typeface="Open Sauce Bold"/>
                <a:sym typeface="Open Sauce Bold"/>
              </a:rPr>
              <a:t>Customer Satisfaction Analysis</a:t>
            </a:r>
          </a:p>
        </p:txBody>
      </p:sp>
      <p:sp>
        <p:nvSpPr>
          <p:cNvPr id="8" name="TextBox 8"/>
          <p:cNvSpPr txBox="1"/>
          <p:nvPr/>
        </p:nvSpPr>
        <p:spPr>
          <a:xfrm>
            <a:off x="9760445" y="4789908"/>
            <a:ext cx="7077403" cy="205232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Calls deliver higher satisfaction (~3.5) vs chats (~2.7)</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Overall rating (~2.9) indicates moderate customer experience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Decline in satisfaction from Dec → Jan signals service inconsistency</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Experience gaps in chat and low-demand periods need attention</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642588" y="4008518"/>
            <a:ext cx="7031601" cy="4232069"/>
          </a:xfrm>
          <a:custGeom>
            <a:avLst/>
            <a:gdLst/>
            <a:ahLst/>
            <a:cxnLst/>
            <a:rect l="l" t="t" r="r" b="b"/>
            <a:pathLst>
              <a:path w="7031601" h="4232069">
                <a:moveTo>
                  <a:pt x="0" y="0"/>
                </a:moveTo>
                <a:lnTo>
                  <a:pt x="7031601" y="0"/>
                </a:lnTo>
                <a:lnTo>
                  <a:pt x="7031601" y="4232068"/>
                </a:lnTo>
                <a:lnTo>
                  <a:pt x="0" y="4232068"/>
                </a:lnTo>
                <a:lnTo>
                  <a:pt x="0" y="0"/>
                </a:lnTo>
                <a:close/>
              </a:path>
            </a:pathLst>
          </a:custGeom>
          <a:blipFill>
            <a:blip r:embed="rId2"/>
            <a:stretch>
              <a:fillRect/>
            </a:stretch>
          </a:blipFill>
        </p:spPr>
      </p:sp>
      <p:sp>
        <p:nvSpPr>
          <p:cNvPr id="7" name="TextBox 7"/>
          <p:cNvSpPr txBox="1"/>
          <p:nvPr/>
        </p:nvSpPr>
        <p:spPr>
          <a:xfrm>
            <a:off x="1642588" y="2591578"/>
            <a:ext cx="7501412" cy="678398"/>
          </a:xfrm>
          <a:prstGeom prst="rect">
            <a:avLst/>
          </a:prstGeom>
        </p:spPr>
        <p:txBody>
          <a:bodyPr lIns="0" tIns="0" rIns="0" bIns="0" rtlCol="0" anchor="t">
            <a:spAutoFit/>
          </a:bodyPr>
          <a:lstStyle/>
          <a:p>
            <a:pPr algn="ctr">
              <a:lnSpc>
                <a:spcPts val="5575"/>
              </a:lnSpc>
            </a:pPr>
            <a:r>
              <a:rPr lang="en-US" sz="3982" b="1" spc="-203">
                <a:solidFill>
                  <a:srgbClr val="212121"/>
                </a:solidFill>
                <a:latin typeface="Open Sauce Bold"/>
                <a:ea typeface="Open Sauce Bold"/>
                <a:cs typeface="Open Sauce Bold"/>
                <a:sym typeface="Open Sauce Bold"/>
              </a:rPr>
              <a:t>Customer Satisfaction Analysis</a:t>
            </a:r>
          </a:p>
        </p:txBody>
      </p:sp>
      <p:sp>
        <p:nvSpPr>
          <p:cNvPr id="8" name="TextBox 8"/>
          <p:cNvSpPr txBox="1"/>
          <p:nvPr/>
        </p:nvSpPr>
        <p:spPr>
          <a:xfrm>
            <a:off x="9816241" y="4640473"/>
            <a:ext cx="7077403" cy="205232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Calls deliver higher satisfaction (~3.5) vs chats (~2.7)</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Overall rating (~2.9) indicates moderate customer experience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Decline in satisfaction from Dec → Jan signals service inconsistency</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Experience gaps in chat and low-demand periods need attention</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642588" y="3973330"/>
            <a:ext cx="7062142" cy="4835807"/>
          </a:xfrm>
          <a:custGeom>
            <a:avLst/>
            <a:gdLst/>
            <a:ahLst/>
            <a:cxnLst/>
            <a:rect l="l" t="t" r="r" b="b"/>
            <a:pathLst>
              <a:path w="7062142" h="4835807">
                <a:moveTo>
                  <a:pt x="0" y="0"/>
                </a:moveTo>
                <a:lnTo>
                  <a:pt x="7062142" y="0"/>
                </a:lnTo>
                <a:lnTo>
                  <a:pt x="7062142" y="4835806"/>
                </a:lnTo>
                <a:lnTo>
                  <a:pt x="0" y="4835806"/>
                </a:lnTo>
                <a:lnTo>
                  <a:pt x="0" y="0"/>
                </a:lnTo>
                <a:close/>
              </a:path>
            </a:pathLst>
          </a:custGeom>
          <a:blipFill>
            <a:blip r:embed="rId2"/>
            <a:stretch>
              <a:fillRect/>
            </a:stretch>
          </a:blipFill>
        </p:spPr>
      </p:sp>
      <p:sp>
        <p:nvSpPr>
          <p:cNvPr id="7" name="TextBox 7"/>
          <p:cNvSpPr txBox="1"/>
          <p:nvPr/>
        </p:nvSpPr>
        <p:spPr>
          <a:xfrm>
            <a:off x="1642588" y="2601103"/>
            <a:ext cx="7501412" cy="1180908"/>
          </a:xfrm>
          <a:prstGeom prst="rect">
            <a:avLst/>
          </a:prstGeom>
        </p:spPr>
        <p:txBody>
          <a:bodyPr lIns="0" tIns="0" rIns="0" bIns="0" rtlCol="0" anchor="t">
            <a:spAutoFit/>
          </a:bodyPr>
          <a:lstStyle/>
          <a:p>
            <a:pPr algn="ctr">
              <a:lnSpc>
                <a:spcPts val="4735"/>
              </a:lnSpc>
            </a:pPr>
            <a:r>
              <a:rPr lang="en-US" sz="3382" b="1" spc="-172">
                <a:solidFill>
                  <a:srgbClr val="212121"/>
                </a:solidFill>
                <a:latin typeface="Open Sauce Bold"/>
                <a:ea typeface="Open Sauce Bold"/>
                <a:cs typeface="Open Sauce Bold"/>
                <a:sym typeface="Open Sauce Bold"/>
              </a:rPr>
              <a:t>Revenue Efficiency &amp; Channel Optimization</a:t>
            </a:r>
          </a:p>
        </p:txBody>
      </p:sp>
      <p:sp>
        <p:nvSpPr>
          <p:cNvPr id="8" name="TextBox 8"/>
          <p:cNvSpPr txBox="1"/>
          <p:nvPr/>
        </p:nvSpPr>
        <p:spPr>
          <a:xfrm>
            <a:off x="9805471" y="4492836"/>
            <a:ext cx="7193549" cy="2347595"/>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Calls show ~40% completion rate vs ~28% for chat</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High % of failed + incomplete chats (~60%) → major revenue leakage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“No-answer” and drop-offs indicate poor customer journey management</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Improving chat conversion can unlock significant incremental revenue</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2164296" y="4082621"/>
            <a:ext cx="6457996" cy="4611444"/>
          </a:xfrm>
          <a:custGeom>
            <a:avLst/>
            <a:gdLst/>
            <a:ahLst/>
            <a:cxnLst/>
            <a:rect l="l" t="t" r="r" b="b"/>
            <a:pathLst>
              <a:path w="6457996" h="4611444">
                <a:moveTo>
                  <a:pt x="0" y="0"/>
                </a:moveTo>
                <a:lnTo>
                  <a:pt x="6457996" y="0"/>
                </a:lnTo>
                <a:lnTo>
                  <a:pt x="6457996" y="4611443"/>
                </a:lnTo>
                <a:lnTo>
                  <a:pt x="0" y="4611443"/>
                </a:lnTo>
                <a:lnTo>
                  <a:pt x="0" y="0"/>
                </a:lnTo>
                <a:close/>
              </a:path>
            </a:pathLst>
          </a:custGeom>
          <a:blipFill>
            <a:blip r:embed="rId2"/>
            <a:stretch>
              <a:fillRect/>
            </a:stretch>
          </a:blipFill>
        </p:spPr>
      </p:sp>
      <p:sp>
        <p:nvSpPr>
          <p:cNvPr id="7" name="TextBox 7"/>
          <p:cNvSpPr txBox="1"/>
          <p:nvPr/>
        </p:nvSpPr>
        <p:spPr>
          <a:xfrm>
            <a:off x="1642588" y="2601103"/>
            <a:ext cx="7501412" cy="1180908"/>
          </a:xfrm>
          <a:prstGeom prst="rect">
            <a:avLst/>
          </a:prstGeom>
        </p:spPr>
        <p:txBody>
          <a:bodyPr lIns="0" tIns="0" rIns="0" bIns="0" rtlCol="0" anchor="t">
            <a:spAutoFit/>
          </a:bodyPr>
          <a:lstStyle/>
          <a:p>
            <a:pPr algn="ctr">
              <a:lnSpc>
                <a:spcPts val="4735"/>
              </a:lnSpc>
            </a:pPr>
            <a:r>
              <a:rPr lang="en-US" sz="3382" b="1" spc="-172">
                <a:solidFill>
                  <a:srgbClr val="212121"/>
                </a:solidFill>
                <a:latin typeface="Open Sauce Bold"/>
                <a:ea typeface="Open Sauce Bold"/>
                <a:cs typeface="Open Sauce Bold"/>
                <a:sym typeface="Open Sauce Bold"/>
              </a:rPr>
              <a:t>Revenue Efficiency &amp; Channel Optimization</a:t>
            </a:r>
          </a:p>
        </p:txBody>
      </p:sp>
      <p:sp>
        <p:nvSpPr>
          <p:cNvPr id="8" name="TextBox 8"/>
          <p:cNvSpPr txBox="1"/>
          <p:nvPr/>
        </p:nvSpPr>
        <p:spPr>
          <a:xfrm>
            <a:off x="9805471" y="4793296"/>
            <a:ext cx="7193549" cy="2347595"/>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Calls show ~40% completion rate vs ~28% for chat</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High % of failed + incomplete chats (~60%) → major revenue leakage</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“No-answer” and drop-offs indicate poor customer journey management</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Improving chat conversion can unlock significant incremental revenue</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642588" y="3939752"/>
            <a:ext cx="7270249" cy="4375702"/>
          </a:xfrm>
          <a:custGeom>
            <a:avLst/>
            <a:gdLst/>
            <a:ahLst/>
            <a:cxnLst/>
            <a:rect l="l" t="t" r="r" b="b"/>
            <a:pathLst>
              <a:path w="7270249" h="4375702">
                <a:moveTo>
                  <a:pt x="0" y="0"/>
                </a:moveTo>
                <a:lnTo>
                  <a:pt x="7270249" y="0"/>
                </a:lnTo>
                <a:lnTo>
                  <a:pt x="7270249" y="4375703"/>
                </a:lnTo>
                <a:lnTo>
                  <a:pt x="0" y="4375703"/>
                </a:lnTo>
                <a:lnTo>
                  <a:pt x="0" y="0"/>
                </a:lnTo>
                <a:close/>
              </a:path>
            </a:pathLst>
          </a:custGeom>
          <a:blipFill>
            <a:blip r:embed="rId2"/>
            <a:stretch>
              <a:fillRect/>
            </a:stretch>
          </a:blipFill>
        </p:spPr>
      </p:sp>
      <p:sp>
        <p:nvSpPr>
          <p:cNvPr id="7" name="TextBox 7"/>
          <p:cNvSpPr txBox="1"/>
          <p:nvPr/>
        </p:nvSpPr>
        <p:spPr>
          <a:xfrm>
            <a:off x="1642588" y="2601103"/>
            <a:ext cx="7501412" cy="580833"/>
          </a:xfrm>
          <a:prstGeom prst="rect">
            <a:avLst/>
          </a:prstGeom>
        </p:spPr>
        <p:txBody>
          <a:bodyPr lIns="0" tIns="0" rIns="0" bIns="0" rtlCol="0" anchor="t">
            <a:spAutoFit/>
          </a:bodyPr>
          <a:lstStyle/>
          <a:p>
            <a:pPr algn="ctr">
              <a:lnSpc>
                <a:spcPts val="4735"/>
              </a:lnSpc>
            </a:pPr>
            <a:r>
              <a:rPr lang="en-US" sz="3382" b="1" spc="-172">
                <a:solidFill>
                  <a:srgbClr val="212121"/>
                </a:solidFill>
                <a:latin typeface="Open Sauce Bold"/>
                <a:ea typeface="Open Sauce Bold"/>
                <a:cs typeface="Open Sauce Bold"/>
                <a:sym typeface="Open Sauce Bold"/>
              </a:rPr>
              <a:t>Agent Performance &amp; Quality Gap</a:t>
            </a:r>
          </a:p>
        </p:txBody>
      </p:sp>
      <p:sp>
        <p:nvSpPr>
          <p:cNvPr id="8" name="TextBox 8"/>
          <p:cNvSpPr txBox="1"/>
          <p:nvPr/>
        </p:nvSpPr>
        <p:spPr>
          <a:xfrm>
            <a:off x="10206274" y="4791881"/>
            <a:ext cx="6584122" cy="2347595"/>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algn="l">
              <a:lnSpc>
                <a:spcPts val="2379"/>
              </a:lnSpc>
            </a:pPr>
            <a:endParaRPr lang="en-US" sz="1699" b="1" spc="-86">
              <a:solidFill>
                <a:srgbClr val="212121"/>
              </a:solidFill>
              <a:latin typeface="Open Sauce Bold"/>
              <a:ea typeface="Open Sauce Bold"/>
              <a:cs typeface="Open Sauce Bold"/>
              <a:sym typeface="Open Sauce Bold"/>
            </a:endParaRP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Huge performance gap: Top agents (~6 rating) vs bottom (~0.6)</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Low-performing agents are handling high call volumes → impacting CX</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Lack of quality control leads to inconsistent service delivery</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Upskilling and performance-based allocation is critical</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377269" y="4492919"/>
            <a:ext cx="7611160" cy="3889928"/>
          </a:xfrm>
          <a:custGeom>
            <a:avLst/>
            <a:gdLst/>
            <a:ahLst/>
            <a:cxnLst/>
            <a:rect l="l" t="t" r="r" b="b"/>
            <a:pathLst>
              <a:path w="7611160" h="3889928">
                <a:moveTo>
                  <a:pt x="0" y="0"/>
                </a:moveTo>
                <a:lnTo>
                  <a:pt x="7611160" y="0"/>
                </a:lnTo>
                <a:lnTo>
                  <a:pt x="7611160" y="3889928"/>
                </a:lnTo>
                <a:lnTo>
                  <a:pt x="0" y="3889928"/>
                </a:lnTo>
                <a:lnTo>
                  <a:pt x="0" y="0"/>
                </a:lnTo>
                <a:close/>
              </a:path>
            </a:pathLst>
          </a:custGeom>
          <a:blipFill>
            <a:blip r:embed="rId2"/>
            <a:stretch>
              <a:fillRect/>
            </a:stretch>
          </a:blipFill>
        </p:spPr>
      </p:sp>
      <p:sp>
        <p:nvSpPr>
          <p:cNvPr id="7" name="TextBox 7"/>
          <p:cNvSpPr txBox="1"/>
          <p:nvPr/>
        </p:nvSpPr>
        <p:spPr>
          <a:xfrm>
            <a:off x="1642588" y="2601103"/>
            <a:ext cx="7501412" cy="1180908"/>
          </a:xfrm>
          <a:prstGeom prst="rect">
            <a:avLst/>
          </a:prstGeom>
        </p:spPr>
        <p:txBody>
          <a:bodyPr lIns="0" tIns="0" rIns="0" bIns="0" rtlCol="0" anchor="t">
            <a:spAutoFit/>
          </a:bodyPr>
          <a:lstStyle/>
          <a:p>
            <a:pPr algn="ctr">
              <a:lnSpc>
                <a:spcPts val="4735"/>
              </a:lnSpc>
            </a:pPr>
            <a:r>
              <a:rPr lang="en-US" sz="3382" b="1" spc="-172">
                <a:solidFill>
                  <a:srgbClr val="212121"/>
                </a:solidFill>
                <a:latin typeface="Open Sauce Bold"/>
                <a:ea typeface="Open Sauce Bold"/>
                <a:cs typeface="Open Sauce Bold"/>
                <a:sym typeface="Open Sauce Bold"/>
              </a:rPr>
              <a:t>Operational Efficiency &amp; Workload Optimization</a:t>
            </a:r>
          </a:p>
        </p:txBody>
      </p:sp>
      <p:sp>
        <p:nvSpPr>
          <p:cNvPr id="8" name="TextBox 8"/>
          <p:cNvSpPr txBox="1"/>
          <p:nvPr/>
        </p:nvSpPr>
        <p:spPr>
          <a:xfrm>
            <a:off x="10084389" y="4640473"/>
            <a:ext cx="6584122" cy="205232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~65% agents are underutilized, while ~25% are overloaded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Only ~10% workforce is optimally balanced</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Average productivity is low (~1.9 calls/agent/day)</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Significant efficiency gains possible through workload redistribution</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03542"/>
            <a:ext cx="16230600" cy="7154758"/>
            <a:chOff x="0" y="0"/>
            <a:chExt cx="5167722" cy="2278031"/>
          </a:xfrm>
        </p:grpSpPr>
        <p:sp>
          <p:nvSpPr>
            <p:cNvPr id="3" name="Freeform 3"/>
            <p:cNvSpPr/>
            <p:nvPr/>
          </p:nvSpPr>
          <p:spPr>
            <a:xfrm>
              <a:off x="0" y="0"/>
              <a:ext cx="5167723" cy="2278031"/>
            </a:xfrm>
            <a:custGeom>
              <a:avLst/>
              <a:gdLst/>
              <a:ahLst/>
              <a:cxnLst/>
              <a:rect l="l" t="t" r="r" b="b"/>
              <a:pathLst>
                <a:path w="5167723" h="2278031">
                  <a:moveTo>
                    <a:pt x="0" y="0"/>
                  </a:moveTo>
                  <a:lnTo>
                    <a:pt x="5167723" y="0"/>
                  </a:lnTo>
                  <a:lnTo>
                    <a:pt x="5167723" y="2278031"/>
                  </a:lnTo>
                  <a:lnTo>
                    <a:pt x="0" y="2278031"/>
                  </a:lnTo>
                  <a:close/>
                </a:path>
              </a:pathLst>
            </a:custGeom>
            <a:ln w="19050" cap="sq">
              <a:solidFill>
                <a:srgbClr val="080708"/>
              </a:solidFill>
              <a:prstDash val="solid"/>
              <a:miter/>
            </a:ln>
          </p:spPr>
        </p:sp>
        <p:sp>
          <p:nvSpPr>
            <p:cNvPr id="4" name="TextBox 4"/>
            <p:cNvSpPr txBox="1"/>
            <p:nvPr/>
          </p:nvSpPr>
          <p:spPr>
            <a:xfrm>
              <a:off x="0" y="47625"/>
              <a:ext cx="5167722" cy="2230406"/>
            </a:xfrm>
            <a:prstGeom prst="rect">
              <a:avLst/>
            </a:prstGeom>
          </p:spPr>
          <p:txBody>
            <a:bodyPr lIns="50800" tIns="50800" rIns="50800" bIns="50800" rtlCol="0" anchor="ctr"/>
            <a:lstStyle/>
            <a:p>
              <a:pPr marL="0" lvl="0" indent="0" algn="ctr">
                <a:lnSpc>
                  <a:spcPts val="1134"/>
                </a:lnSpc>
                <a:spcBef>
                  <a:spcPct val="0"/>
                </a:spcBef>
              </a:pPr>
              <a:endParaRPr/>
            </a:p>
          </p:txBody>
        </p:sp>
      </p:grpSp>
      <p:sp>
        <p:nvSpPr>
          <p:cNvPr id="5" name="AutoShape 5"/>
          <p:cNvSpPr/>
          <p:nvPr/>
        </p:nvSpPr>
        <p:spPr>
          <a:xfrm>
            <a:off x="9388970" y="2667778"/>
            <a:ext cx="0" cy="6026287"/>
          </a:xfrm>
          <a:prstGeom prst="line">
            <a:avLst/>
          </a:prstGeom>
          <a:ln w="19050" cap="flat">
            <a:solidFill>
              <a:srgbClr val="000000"/>
            </a:solidFill>
            <a:prstDash val="solid"/>
            <a:headEnd type="none" w="sm" len="sm"/>
            <a:tailEnd type="none" w="sm" len="sm"/>
          </a:ln>
        </p:spPr>
      </p:sp>
      <p:sp>
        <p:nvSpPr>
          <p:cNvPr id="6" name="Freeform 6"/>
          <p:cNvSpPr/>
          <p:nvPr/>
        </p:nvSpPr>
        <p:spPr>
          <a:xfrm>
            <a:off x="1398604" y="3851466"/>
            <a:ext cx="7745396" cy="5014237"/>
          </a:xfrm>
          <a:custGeom>
            <a:avLst/>
            <a:gdLst/>
            <a:ahLst/>
            <a:cxnLst/>
            <a:rect l="l" t="t" r="r" b="b"/>
            <a:pathLst>
              <a:path w="7745396" h="5014237">
                <a:moveTo>
                  <a:pt x="0" y="0"/>
                </a:moveTo>
                <a:lnTo>
                  <a:pt x="7745396" y="0"/>
                </a:lnTo>
                <a:lnTo>
                  <a:pt x="7745396" y="5014237"/>
                </a:lnTo>
                <a:lnTo>
                  <a:pt x="0" y="5014237"/>
                </a:lnTo>
                <a:lnTo>
                  <a:pt x="0" y="0"/>
                </a:lnTo>
                <a:close/>
              </a:path>
            </a:pathLst>
          </a:custGeom>
          <a:blipFill>
            <a:blip r:embed="rId2"/>
            <a:stretch>
              <a:fillRect/>
            </a:stretch>
          </a:blipFill>
        </p:spPr>
      </p:sp>
      <p:sp>
        <p:nvSpPr>
          <p:cNvPr id="7" name="TextBox 7"/>
          <p:cNvSpPr txBox="1"/>
          <p:nvPr/>
        </p:nvSpPr>
        <p:spPr>
          <a:xfrm>
            <a:off x="1642588" y="2601103"/>
            <a:ext cx="7501412" cy="580833"/>
          </a:xfrm>
          <a:prstGeom prst="rect">
            <a:avLst/>
          </a:prstGeom>
        </p:spPr>
        <p:txBody>
          <a:bodyPr lIns="0" tIns="0" rIns="0" bIns="0" rtlCol="0" anchor="t">
            <a:spAutoFit/>
          </a:bodyPr>
          <a:lstStyle/>
          <a:p>
            <a:pPr algn="ctr">
              <a:lnSpc>
                <a:spcPts val="4735"/>
              </a:lnSpc>
            </a:pPr>
            <a:r>
              <a:rPr lang="en-US" sz="3382" b="1" spc="-172">
                <a:solidFill>
                  <a:srgbClr val="212121"/>
                </a:solidFill>
                <a:latin typeface="Open Sauce Bold"/>
                <a:ea typeface="Open Sauce Bold"/>
                <a:cs typeface="Open Sauce Bold"/>
                <a:sym typeface="Open Sauce Bold"/>
              </a:rPr>
              <a:t>Peak vs Non-Peak Hours</a:t>
            </a:r>
          </a:p>
        </p:txBody>
      </p:sp>
      <p:sp>
        <p:nvSpPr>
          <p:cNvPr id="8" name="TextBox 8"/>
          <p:cNvSpPr txBox="1"/>
          <p:nvPr/>
        </p:nvSpPr>
        <p:spPr>
          <a:xfrm>
            <a:off x="9889372" y="4863040"/>
            <a:ext cx="6584122" cy="2052320"/>
          </a:xfrm>
          <a:prstGeom prst="rect">
            <a:avLst/>
          </a:prstGeom>
        </p:spPr>
        <p:txBody>
          <a:bodyPr lIns="0" tIns="0" rIns="0" bIns="0" rtlCol="0" anchor="t">
            <a:spAutoFit/>
          </a:bodyPr>
          <a:lstStyle/>
          <a:p>
            <a:pPr algn="l">
              <a:lnSpc>
                <a:spcPts val="2379"/>
              </a:lnSpc>
            </a:pPr>
            <a:r>
              <a:rPr lang="en-US" sz="1699" b="1" spc="-86">
                <a:solidFill>
                  <a:srgbClr val="212121"/>
                </a:solidFill>
                <a:latin typeface="Open Sauce Bold"/>
                <a:ea typeface="Open Sauce Bold"/>
                <a:cs typeface="Open Sauce Bold"/>
                <a:sym typeface="Open Sauce Bold"/>
              </a:rPr>
              <a:t>Key Takeaways:</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Peak hours show higher completion (~44%) vs non-peak (~30%)</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Non-peak hours have higher failure + no-answer rates (~46%)</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Demand is concentrated but staffing is not optimized accordingly</a:t>
            </a:r>
          </a:p>
          <a:p>
            <a:pPr marL="367029" lvl="1" indent="-183514" algn="l">
              <a:lnSpc>
                <a:spcPts val="2379"/>
              </a:lnSpc>
              <a:buFont typeface="Arial"/>
              <a:buChar char="•"/>
            </a:pPr>
            <a:r>
              <a:rPr lang="en-US" sz="1699" spc="-86">
                <a:solidFill>
                  <a:srgbClr val="212121"/>
                </a:solidFill>
                <a:latin typeface="Open Sauce"/>
                <a:ea typeface="Open Sauce"/>
                <a:cs typeface="Open Sauce"/>
                <a:sym typeface="Open Sauce"/>
              </a:rPr>
              <a:t>Implication: Aligning staffing with demand can improve both efficiency &amp; CX</a:t>
            </a:r>
          </a:p>
          <a:p>
            <a:pPr algn="ctr">
              <a:lnSpc>
                <a:spcPts val="2379"/>
              </a:lnSpc>
            </a:pPr>
            <a:endParaRPr lang="en-US" sz="1699" spc="-86">
              <a:solidFill>
                <a:srgbClr val="212121"/>
              </a:solidFill>
              <a:latin typeface="Open Sauce"/>
              <a:ea typeface="Open Sauce"/>
              <a:cs typeface="Open Sauce"/>
              <a:sym typeface="Open Sauc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7012677" cy="2351386"/>
            <a:chOff x="0" y="0"/>
            <a:chExt cx="22683570" cy="3135182"/>
          </a:xfrm>
        </p:grpSpPr>
        <p:grpSp>
          <p:nvGrpSpPr>
            <p:cNvPr id="3" name="Group 3"/>
            <p:cNvGrpSpPr/>
            <p:nvPr/>
          </p:nvGrpSpPr>
          <p:grpSpPr>
            <a:xfrm>
              <a:off x="0" y="0"/>
              <a:ext cx="21640800" cy="3135182"/>
              <a:chOff x="0" y="0"/>
              <a:chExt cx="4274726" cy="619295"/>
            </a:xfrm>
          </p:grpSpPr>
          <p:sp>
            <p:nvSpPr>
              <p:cNvPr id="4" name="Freeform 4"/>
              <p:cNvSpPr/>
              <p:nvPr/>
            </p:nvSpPr>
            <p:spPr>
              <a:xfrm>
                <a:off x="0" y="0"/>
                <a:ext cx="4274726" cy="619295"/>
              </a:xfrm>
              <a:custGeom>
                <a:avLst/>
                <a:gdLst/>
                <a:ahLst/>
                <a:cxnLst/>
                <a:rect l="l" t="t" r="r" b="b"/>
                <a:pathLst>
                  <a:path w="4274726" h="619295">
                    <a:moveTo>
                      <a:pt x="0" y="0"/>
                    </a:moveTo>
                    <a:lnTo>
                      <a:pt x="4274726" y="0"/>
                    </a:lnTo>
                    <a:lnTo>
                      <a:pt x="4274726" y="619295"/>
                    </a:lnTo>
                    <a:lnTo>
                      <a:pt x="0" y="619295"/>
                    </a:lnTo>
                    <a:close/>
                  </a:path>
                </a:pathLst>
              </a:custGeom>
              <a:ln w="19050" cap="sq">
                <a:solidFill>
                  <a:srgbClr val="080708"/>
                </a:solidFill>
                <a:prstDash val="solid"/>
                <a:miter/>
              </a:ln>
            </p:spPr>
          </p:sp>
          <p:sp>
            <p:nvSpPr>
              <p:cNvPr id="5" name="TextBox 5"/>
              <p:cNvSpPr txBox="1"/>
              <p:nvPr/>
            </p:nvSpPr>
            <p:spPr>
              <a:xfrm>
                <a:off x="0" y="47625"/>
                <a:ext cx="4274726" cy="571670"/>
              </a:xfrm>
              <a:prstGeom prst="rect">
                <a:avLst/>
              </a:prstGeom>
            </p:spPr>
            <p:txBody>
              <a:bodyPr lIns="50800" tIns="50800" rIns="50800" bIns="50800" rtlCol="0" anchor="ctr"/>
              <a:lstStyle/>
              <a:p>
                <a:pPr algn="ctr">
                  <a:lnSpc>
                    <a:spcPts val="1134"/>
                  </a:lnSpc>
                </a:pPr>
                <a:endParaRPr/>
              </a:p>
            </p:txBody>
          </p:sp>
        </p:grpSp>
        <p:sp>
          <p:nvSpPr>
            <p:cNvPr id="6" name="TextBox 6"/>
            <p:cNvSpPr txBox="1"/>
            <p:nvPr/>
          </p:nvSpPr>
          <p:spPr>
            <a:xfrm>
              <a:off x="345786" y="537233"/>
              <a:ext cx="8549432" cy="2031576"/>
            </a:xfrm>
            <a:prstGeom prst="rect">
              <a:avLst/>
            </a:prstGeom>
          </p:spPr>
          <p:txBody>
            <a:bodyPr lIns="0" tIns="0" rIns="0" bIns="0" rtlCol="0" anchor="t">
              <a:spAutoFit/>
            </a:bodyPr>
            <a:lstStyle/>
            <a:p>
              <a:pPr algn="l">
                <a:lnSpc>
                  <a:spcPts val="12880"/>
                </a:lnSpc>
              </a:pPr>
              <a:r>
                <a:rPr lang="en-US" sz="9200" b="1" spc="-184">
                  <a:solidFill>
                    <a:srgbClr val="080708"/>
                  </a:solidFill>
                  <a:latin typeface="Open Sauce Bold"/>
                  <a:ea typeface="Open Sauce Bold"/>
                  <a:cs typeface="Open Sauce Bold"/>
                  <a:sym typeface="Open Sauce Bold"/>
                </a:rPr>
                <a:t>Strategic</a:t>
              </a:r>
            </a:p>
          </p:txBody>
        </p:sp>
        <p:sp>
          <p:nvSpPr>
            <p:cNvPr id="7" name="TextBox 7"/>
            <p:cNvSpPr txBox="1"/>
            <p:nvPr/>
          </p:nvSpPr>
          <p:spPr>
            <a:xfrm>
              <a:off x="7348097" y="537238"/>
              <a:ext cx="15335473" cy="2031571"/>
            </a:xfrm>
            <a:prstGeom prst="rect">
              <a:avLst/>
            </a:prstGeom>
          </p:spPr>
          <p:txBody>
            <a:bodyPr lIns="0" tIns="0" rIns="0" bIns="0" rtlCol="0" anchor="t">
              <a:spAutoFit/>
            </a:bodyPr>
            <a:lstStyle/>
            <a:p>
              <a:pPr algn="l">
                <a:lnSpc>
                  <a:spcPts val="12880"/>
                </a:lnSpc>
              </a:pPr>
              <a:r>
                <a:rPr lang="en-US" sz="9200" spc="-184">
                  <a:solidFill>
                    <a:srgbClr val="31DAFF"/>
                  </a:solidFill>
                  <a:latin typeface="Open Sauce"/>
                  <a:ea typeface="Open Sauce"/>
                  <a:cs typeface="Open Sauce"/>
                  <a:sym typeface="Open Sauce"/>
                </a:rPr>
                <a:t>Recommendations</a:t>
              </a:r>
            </a:p>
          </p:txBody>
        </p:sp>
      </p:grpSp>
      <p:grpSp>
        <p:nvGrpSpPr>
          <p:cNvPr id="8" name="Group 8"/>
          <p:cNvGrpSpPr/>
          <p:nvPr/>
        </p:nvGrpSpPr>
        <p:grpSpPr>
          <a:xfrm>
            <a:off x="1028700" y="3975135"/>
            <a:ext cx="16230600" cy="5673198"/>
            <a:chOff x="0" y="0"/>
            <a:chExt cx="4274726" cy="1494176"/>
          </a:xfrm>
        </p:grpSpPr>
        <p:sp>
          <p:nvSpPr>
            <p:cNvPr id="9" name="Freeform 9"/>
            <p:cNvSpPr/>
            <p:nvPr/>
          </p:nvSpPr>
          <p:spPr>
            <a:xfrm>
              <a:off x="0" y="0"/>
              <a:ext cx="4274726" cy="1494176"/>
            </a:xfrm>
            <a:custGeom>
              <a:avLst/>
              <a:gdLst/>
              <a:ahLst/>
              <a:cxnLst/>
              <a:rect l="l" t="t" r="r" b="b"/>
              <a:pathLst>
                <a:path w="4274726" h="1494176">
                  <a:moveTo>
                    <a:pt x="0" y="0"/>
                  </a:moveTo>
                  <a:lnTo>
                    <a:pt x="4274726" y="0"/>
                  </a:lnTo>
                  <a:lnTo>
                    <a:pt x="4274726" y="1494176"/>
                  </a:lnTo>
                  <a:lnTo>
                    <a:pt x="0" y="1494176"/>
                  </a:lnTo>
                  <a:close/>
                </a:path>
              </a:pathLst>
            </a:custGeom>
            <a:ln w="19050" cap="sq">
              <a:solidFill>
                <a:srgbClr val="080708"/>
              </a:solidFill>
              <a:prstDash val="solid"/>
              <a:miter/>
            </a:ln>
          </p:spPr>
        </p:sp>
        <p:sp>
          <p:nvSpPr>
            <p:cNvPr id="10" name="TextBox 10"/>
            <p:cNvSpPr txBox="1"/>
            <p:nvPr/>
          </p:nvSpPr>
          <p:spPr>
            <a:xfrm>
              <a:off x="0" y="47625"/>
              <a:ext cx="4274726" cy="1446551"/>
            </a:xfrm>
            <a:prstGeom prst="rect">
              <a:avLst/>
            </a:prstGeom>
          </p:spPr>
          <p:txBody>
            <a:bodyPr lIns="50800" tIns="50800" rIns="50800" bIns="50800" rtlCol="0" anchor="ctr"/>
            <a:lstStyle/>
            <a:p>
              <a:pPr algn="ctr">
                <a:lnSpc>
                  <a:spcPts val="1134"/>
                </a:lnSpc>
              </a:pPr>
              <a:endParaRPr/>
            </a:p>
          </p:txBody>
        </p:sp>
      </p:grpSp>
      <p:grpSp>
        <p:nvGrpSpPr>
          <p:cNvPr id="11" name="Group 11"/>
          <p:cNvGrpSpPr/>
          <p:nvPr/>
        </p:nvGrpSpPr>
        <p:grpSpPr>
          <a:xfrm>
            <a:off x="1283551" y="4413007"/>
            <a:ext cx="5016014" cy="4797454"/>
            <a:chOff x="0" y="0"/>
            <a:chExt cx="1321090" cy="1263527"/>
          </a:xfrm>
        </p:grpSpPr>
        <p:sp>
          <p:nvSpPr>
            <p:cNvPr id="12" name="Freeform 12"/>
            <p:cNvSpPr/>
            <p:nvPr/>
          </p:nvSpPr>
          <p:spPr>
            <a:xfrm>
              <a:off x="0" y="0"/>
              <a:ext cx="1321090" cy="1263527"/>
            </a:xfrm>
            <a:custGeom>
              <a:avLst/>
              <a:gdLst/>
              <a:ahLst/>
              <a:cxnLst/>
              <a:rect l="l" t="t" r="r" b="b"/>
              <a:pathLst>
                <a:path w="1321090" h="1263527">
                  <a:moveTo>
                    <a:pt x="0" y="0"/>
                  </a:moveTo>
                  <a:lnTo>
                    <a:pt x="1321090" y="0"/>
                  </a:lnTo>
                  <a:lnTo>
                    <a:pt x="1321090" y="1263527"/>
                  </a:lnTo>
                  <a:lnTo>
                    <a:pt x="0" y="1263527"/>
                  </a:lnTo>
                  <a:close/>
                </a:path>
              </a:pathLst>
            </a:custGeom>
            <a:solidFill>
              <a:srgbClr val="E5E6E7"/>
            </a:solidFill>
            <a:ln cap="sq">
              <a:noFill/>
              <a:prstDash val="solid"/>
              <a:miter/>
            </a:ln>
          </p:spPr>
        </p:sp>
        <p:sp>
          <p:nvSpPr>
            <p:cNvPr id="13" name="TextBox 13"/>
            <p:cNvSpPr txBox="1"/>
            <p:nvPr/>
          </p:nvSpPr>
          <p:spPr>
            <a:xfrm>
              <a:off x="0" y="47625"/>
              <a:ext cx="1321090" cy="1215902"/>
            </a:xfrm>
            <a:prstGeom prst="rect">
              <a:avLst/>
            </a:prstGeom>
          </p:spPr>
          <p:txBody>
            <a:bodyPr lIns="50800" tIns="50800" rIns="50800" bIns="50800" rtlCol="0" anchor="ctr"/>
            <a:lstStyle/>
            <a:p>
              <a:pPr algn="ctr">
                <a:lnSpc>
                  <a:spcPts val="1134"/>
                </a:lnSpc>
              </a:pPr>
              <a:endParaRPr/>
            </a:p>
          </p:txBody>
        </p:sp>
      </p:grpSp>
      <p:grpSp>
        <p:nvGrpSpPr>
          <p:cNvPr id="14" name="Group 14"/>
          <p:cNvGrpSpPr/>
          <p:nvPr/>
        </p:nvGrpSpPr>
        <p:grpSpPr>
          <a:xfrm>
            <a:off x="6538500" y="4460846"/>
            <a:ext cx="5235408" cy="4797454"/>
            <a:chOff x="0" y="0"/>
            <a:chExt cx="1378873" cy="1263527"/>
          </a:xfrm>
        </p:grpSpPr>
        <p:sp>
          <p:nvSpPr>
            <p:cNvPr id="15" name="Freeform 15"/>
            <p:cNvSpPr/>
            <p:nvPr/>
          </p:nvSpPr>
          <p:spPr>
            <a:xfrm>
              <a:off x="0" y="0"/>
              <a:ext cx="1378873" cy="1263527"/>
            </a:xfrm>
            <a:custGeom>
              <a:avLst/>
              <a:gdLst/>
              <a:ahLst/>
              <a:cxnLst/>
              <a:rect l="l" t="t" r="r" b="b"/>
              <a:pathLst>
                <a:path w="1378873" h="1263527">
                  <a:moveTo>
                    <a:pt x="0" y="0"/>
                  </a:moveTo>
                  <a:lnTo>
                    <a:pt x="1378873" y="0"/>
                  </a:lnTo>
                  <a:lnTo>
                    <a:pt x="1378873" y="1263527"/>
                  </a:lnTo>
                  <a:lnTo>
                    <a:pt x="0" y="1263527"/>
                  </a:lnTo>
                  <a:close/>
                </a:path>
              </a:pathLst>
            </a:custGeom>
            <a:solidFill>
              <a:srgbClr val="E5E6E7"/>
            </a:solidFill>
            <a:ln cap="sq">
              <a:noFill/>
              <a:prstDash val="solid"/>
              <a:miter/>
            </a:ln>
          </p:spPr>
        </p:sp>
        <p:sp>
          <p:nvSpPr>
            <p:cNvPr id="16" name="TextBox 16"/>
            <p:cNvSpPr txBox="1"/>
            <p:nvPr/>
          </p:nvSpPr>
          <p:spPr>
            <a:xfrm>
              <a:off x="0" y="47625"/>
              <a:ext cx="1378873" cy="1215902"/>
            </a:xfrm>
            <a:prstGeom prst="rect">
              <a:avLst/>
            </a:prstGeom>
          </p:spPr>
          <p:txBody>
            <a:bodyPr lIns="50800" tIns="50800" rIns="50800" bIns="50800" rtlCol="0" anchor="ctr"/>
            <a:lstStyle/>
            <a:p>
              <a:pPr algn="ctr">
                <a:lnSpc>
                  <a:spcPts val="1134"/>
                </a:lnSpc>
              </a:pPr>
              <a:endParaRPr/>
            </a:p>
          </p:txBody>
        </p:sp>
      </p:grpSp>
      <p:grpSp>
        <p:nvGrpSpPr>
          <p:cNvPr id="17" name="Group 17"/>
          <p:cNvGrpSpPr/>
          <p:nvPr/>
        </p:nvGrpSpPr>
        <p:grpSpPr>
          <a:xfrm>
            <a:off x="11988466" y="4460846"/>
            <a:ext cx="4991637" cy="4797454"/>
            <a:chOff x="0" y="0"/>
            <a:chExt cx="1314670" cy="1263527"/>
          </a:xfrm>
        </p:grpSpPr>
        <p:sp>
          <p:nvSpPr>
            <p:cNvPr id="18" name="Freeform 18"/>
            <p:cNvSpPr/>
            <p:nvPr/>
          </p:nvSpPr>
          <p:spPr>
            <a:xfrm>
              <a:off x="0" y="0"/>
              <a:ext cx="1314670" cy="1263527"/>
            </a:xfrm>
            <a:custGeom>
              <a:avLst/>
              <a:gdLst/>
              <a:ahLst/>
              <a:cxnLst/>
              <a:rect l="l" t="t" r="r" b="b"/>
              <a:pathLst>
                <a:path w="1314670" h="1263527">
                  <a:moveTo>
                    <a:pt x="0" y="0"/>
                  </a:moveTo>
                  <a:lnTo>
                    <a:pt x="1314670" y="0"/>
                  </a:lnTo>
                  <a:lnTo>
                    <a:pt x="1314670" y="1263527"/>
                  </a:lnTo>
                  <a:lnTo>
                    <a:pt x="0" y="1263527"/>
                  </a:lnTo>
                  <a:close/>
                </a:path>
              </a:pathLst>
            </a:custGeom>
            <a:solidFill>
              <a:srgbClr val="E5E6E7"/>
            </a:solidFill>
            <a:ln cap="sq">
              <a:noFill/>
              <a:prstDash val="solid"/>
              <a:miter/>
            </a:ln>
          </p:spPr>
        </p:sp>
        <p:sp>
          <p:nvSpPr>
            <p:cNvPr id="19" name="TextBox 19"/>
            <p:cNvSpPr txBox="1"/>
            <p:nvPr/>
          </p:nvSpPr>
          <p:spPr>
            <a:xfrm>
              <a:off x="0" y="47625"/>
              <a:ext cx="1314670" cy="1215902"/>
            </a:xfrm>
            <a:prstGeom prst="rect">
              <a:avLst/>
            </a:prstGeom>
          </p:spPr>
          <p:txBody>
            <a:bodyPr lIns="50800" tIns="50800" rIns="50800" bIns="50800" rtlCol="0" anchor="ctr"/>
            <a:lstStyle/>
            <a:p>
              <a:pPr algn="ctr">
                <a:lnSpc>
                  <a:spcPts val="1134"/>
                </a:lnSpc>
              </a:pPr>
              <a:endParaRPr/>
            </a:p>
          </p:txBody>
        </p:sp>
      </p:grpSp>
      <p:sp>
        <p:nvSpPr>
          <p:cNvPr id="20" name="TextBox 20"/>
          <p:cNvSpPr txBox="1"/>
          <p:nvPr/>
        </p:nvSpPr>
        <p:spPr>
          <a:xfrm>
            <a:off x="1461322" y="5750523"/>
            <a:ext cx="4660471" cy="31908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Implement intelligent call routing + callback/queue systems</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~45% interactions are failed, no-answer, or incomplete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Indicates poor routing &amp; agent availability mismatch</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Call completion rate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Revenue per session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Customer frustration</a:t>
            </a:r>
          </a:p>
          <a:p>
            <a:pPr algn="l">
              <a:lnSpc>
                <a:spcPts val="2100"/>
              </a:lnSpc>
            </a:pPr>
            <a:endParaRPr lang="en-US" sz="1500" spc="-76">
              <a:solidFill>
                <a:srgbClr val="212121"/>
              </a:solidFill>
              <a:latin typeface="Open Sauce"/>
              <a:ea typeface="Open Sauce"/>
              <a:cs typeface="Open Sauce"/>
              <a:sym typeface="Open Sauce"/>
            </a:endParaRPr>
          </a:p>
        </p:txBody>
      </p:sp>
      <p:sp>
        <p:nvSpPr>
          <p:cNvPr id="21" name="TextBox 21"/>
          <p:cNvSpPr txBox="1"/>
          <p:nvPr/>
        </p:nvSpPr>
        <p:spPr>
          <a:xfrm>
            <a:off x="2048824" y="4707255"/>
            <a:ext cx="3631771"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Optimize Call Routing &amp; Reduce Drop-offs</a:t>
            </a:r>
          </a:p>
        </p:txBody>
      </p:sp>
      <p:sp>
        <p:nvSpPr>
          <p:cNvPr id="22" name="AutoShape 22"/>
          <p:cNvSpPr/>
          <p:nvPr/>
        </p:nvSpPr>
        <p:spPr>
          <a:xfrm>
            <a:off x="1975672" y="5655609"/>
            <a:ext cx="3631771" cy="0"/>
          </a:xfrm>
          <a:prstGeom prst="line">
            <a:avLst/>
          </a:prstGeom>
          <a:ln w="19050" cap="flat">
            <a:solidFill>
              <a:srgbClr val="000000"/>
            </a:solidFill>
            <a:prstDash val="solid"/>
            <a:headEnd type="none" w="sm" len="sm"/>
            <a:tailEnd type="none" w="sm" len="sm"/>
          </a:ln>
        </p:spPr>
      </p:sp>
      <p:sp>
        <p:nvSpPr>
          <p:cNvPr id="23" name="TextBox 23"/>
          <p:cNvSpPr txBox="1"/>
          <p:nvPr/>
        </p:nvSpPr>
        <p:spPr>
          <a:xfrm>
            <a:off x="6799184" y="5750523"/>
            <a:ext cx="4689632" cy="34575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Introduce AI-assisted chat + chatbot for basic queries</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Train agents for faster, structured responses</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Chat = highest volume (~70%) but lowest satisfaction (~2.7)</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~60% chats are failed/incomplete → major leakage</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Chat conversion &amp; revenue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Customer satisfaction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Unlocks largest growth opportunity</a:t>
            </a:r>
          </a:p>
          <a:p>
            <a:pPr algn="l">
              <a:lnSpc>
                <a:spcPts val="2100"/>
              </a:lnSpc>
            </a:pPr>
            <a:endParaRPr lang="en-US" sz="1500" spc="-76">
              <a:solidFill>
                <a:srgbClr val="212121"/>
              </a:solidFill>
              <a:latin typeface="Open Sauce"/>
              <a:ea typeface="Open Sauce"/>
              <a:cs typeface="Open Sauce"/>
              <a:sym typeface="Open Sauce"/>
            </a:endParaRPr>
          </a:p>
        </p:txBody>
      </p:sp>
      <p:sp>
        <p:nvSpPr>
          <p:cNvPr id="24" name="TextBox 24"/>
          <p:cNvSpPr txBox="1"/>
          <p:nvPr/>
        </p:nvSpPr>
        <p:spPr>
          <a:xfrm>
            <a:off x="7328151" y="4707255"/>
            <a:ext cx="3631771"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Transform Chat Channel Performance</a:t>
            </a:r>
          </a:p>
        </p:txBody>
      </p:sp>
      <p:sp>
        <p:nvSpPr>
          <p:cNvPr id="25" name="AutoShape 25"/>
          <p:cNvSpPr/>
          <p:nvPr/>
        </p:nvSpPr>
        <p:spPr>
          <a:xfrm>
            <a:off x="7328114" y="5646084"/>
            <a:ext cx="3631771" cy="0"/>
          </a:xfrm>
          <a:prstGeom prst="line">
            <a:avLst/>
          </a:prstGeom>
          <a:ln w="19050" cap="flat">
            <a:solidFill>
              <a:srgbClr val="000000"/>
            </a:solidFill>
            <a:prstDash val="solid"/>
            <a:headEnd type="none" w="sm" len="sm"/>
            <a:tailEnd type="none" w="sm" len="sm"/>
          </a:ln>
        </p:spPr>
      </p:sp>
      <p:sp>
        <p:nvSpPr>
          <p:cNvPr id="26" name="TextBox 26"/>
          <p:cNvSpPr txBox="1"/>
          <p:nvPr/>
        </p:nvSpPr>
        <p:spPr>
          <a:xfrm>
            <a:off x="12328677" y="5750523"/>
            <a:ext cx="4311216" cy="29241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Implement load-based agent allocation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Optimize shift scheduling (peak vs non-peak)</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~65% agents underutilized, ~25% overloaded</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Avg productivity = 1.9 calls/agent/day (very low)</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Utilization without hiring</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Burnout risk</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Operational efficiency</a:t>
            </a:r>
          </a:p>
          <a:p>
            <a:pPr algn="l">
              <a:lnSpc>
                <a:spcPts val="2100"/>
              </a:lnSpc>
            </a:pPr>
            <a:endParaRPr lang="en-US" sz="1500" spc="-76">
              <a:solidFill>
                <a:srgbClr val="212121"/>
              </a:solidFill>
              <a:latin typeface="Open Sauce"/>
              <a:ea typeface="Open Sauce"/>
              <a:cs typeface="Open Sauce"/>
              <a:sym typeface="Open Sauce"/>
            </a:endParaRPr>
          </a:p>
        </p:txBody>
      </p:sp>
      <p:sp>
        <p:nvSpPr>
          <p:cNvPr id="27" name="TextBox 27"/>
          <p:cNvSpPr txBox="1"/>
          <p:nvPr/>
        </p:nvSpPr>
        <p:spPr>
          <a:xfrm>
            <a:off x="12607373" y="4707255"/>
            <a:ext cx="3631771"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Rebalance Workforce Allocation</a:t>
            </a:r>
          </a:p>
        </p:txBody>
      </p:sp>
      <p:sp>
        <p:nvSpPr>
          <p:cNvPr id="28" name="AutoShape 28"/>
          <p:cNvSpPr/>
          <p:nvPr/>
        </p:nvSpPr>
        <p:spPr>
          <a:xfrm>
            <a:off x="12607373" y="5665134"/>
            <a:ext cx="3631771" cy="0"/>
          </a:xfrm>
          <a:prstGeom prst="line">
            <a:avLst/>
          </a:prstGeom>
          <a:ln w="19050" cap="flat">
            <a:solidFill>
              <a:srgbClr val="000000"/>
            </a:solidFill>
            <a:prstDash val="solid"/>
            <a:headEnd type="none" w="sm" len="sm"/>
            <a:tailEnd type="none" w="sm" len="sm"/>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7012677" cy="2351386"/>
            <a:chOff x="0" y="0"/>
            <a:chExt cx="22683570" cy="3135182"/>
          </a:xfrm>
        </p:grpSpPr>
        <p:grpSp>
          <p:nvGrpSpPr>
            <p:cNvPr id="3" name="Group 3"/>
            <p:cNvGrpSpPr/>
            <p:nvPr/>
          </p:nvGrpSpPr>
          <p:grpSpPr>
            <a:xfrm>
              <a:off x="0" y="0"/>
              <a:ext cx="21640800" cy="3135182"/>
              <a:chOff x="0" y="0"/>
              <a:chExt cx="4274726" cy="619295"/>
            </a:xfrm>
          </p:grpSpPr>
          <p:sp>
            <p:nvSpPr>
              <p:cNvPr id="4" name="Freeform 4"/>
              <p:cNvSpPr/>
              <p:nvPr/>
            </p:nvSpPr>
            <p:spPr>
              <a:xfrm>
                <a:off x="0" y="0"/>
                <a:ext cx="4274726" cy="619295"/>
              </a:xfrm>
              <a:custGeom>
                <a:avLst/>
                <a:gdLst/>
                <a:ahLst/>
                <a:cxnLst/>
                <a:rect l="l" t="t" r="r" b="b"/>
                <a:pathLst>
                  <a:path w="4274726" h="619295">
                    <a:moveTo>
                      <a:pt x="0" y="0"/>
                    </a:moveTo>
                    <a:lnTo>
                      <a:pt x="4274726" y="0"/>
                    </a:lnTo>
                    <a:lnTo>
                      <a:pt x="4274726" y="619295"/>
                    </a:lnTo>
                    <a:lnTo>
                      <a:pt x="0" y="619295"/>
                    </a:lnTo>
                    <a:close/>
                  </a:path>
                </a:pathLst>
              </a:custGeom>
              <a:ln w="19050" cap="sq">
                <a:solidFill>
                  <a:srgbClr val="080708"/>
                </a:solidFill>
                <a:prstDash val="solid"/>
                <a:miter/>
              </a:ln>
            </p:spPr>
          </p:sp>
          <p:sp>
            <p:nvSpPr>
              <p:cNvPr id="5" name="TextBox 5"/>
              <p:cNvSpPr txBox="1"/>
              <p:nvPr/>
            </p:nvSpPr>
            <p:spPr>
              <a:xfrm>
                <a:off x="0" y="47625"/>
                <a:ext cx="4274726" cy="571670"/>
              </a:xfrm>
              <a:prstGeom prst="rect">
                <a:avLst/>
              </a:prstGeom>
            </p:spPr>
            <p:txBody>
              <a:bodyPr lIns="50800" tIns="50800" rIns="50800" bIns="50800" rtlCol="0" anchor="ctr"/>
              <a:lstStyle/>
              <a:p>
                <a:pPr algn="ctr">
                  <a:lnSpc>
                    <a:spcPts val="1134"/>
                  </a:lnSpc>
                </a:pPr>
                <a:endParaRPr/>
              </a:p>
            </p:txBody>
          </p:sp>
        </p:grpSp>
        <p:sp>
          <p:nvSpPr>
            <p:cNvPr id="6" name="TextBox 6"/>
            <p:cNvSpPr txBox="1"/>
            <p:nvPr/>
          </p:nvSpPr>
          <p:spPr>
            <a:xfrm>
              <a:off x="345786" y="537233"/>
              <a:ext cx="8549432" cy="2031576"/>
            </a:xfrm>
            <a:prstGeom prst="rect">
              <a:avLst/>
            </a:prstGeom>
          </p:spPr>
          <p:txBody>
            <a:bodyPr lIns="0" tIns="0" rIns="0" bIns="0" rtlCol="0" anchor="t">
              <a:spAutoFit/>
            </a:bodyPr>
            <a:lstStyle/>
            <a:p>
              <a:pPr algn="l">
                <a:lnSpc>
                  <a:spcPts val="12880"/>
                </a:lnSpc>
              </a:pPr>
              <a:r>
                <a:rPr lang="en-US" sz="9200" b="1" spc="-184">
                  <a:solidFill>
                    <a:srgbClr val="080708"/>
                  </a:solidFill>
                  <a:latin typeface="Open Sauce Bold"/>
                  <a:ea typeface="Open Sauce Bold"/>
                  <a:cs typeface="Open Sauce Bold"/>
                  <a:sym typeface="Open Sauce Bold"/>
                </a:rPr>
                <a:t>Strategic</a:t>
              </a:r>
            </a:p>
          </p:txBody>
        </p:sp>
        <p:sp>
          <p:nvSpPr>
            <p:cNvPr id="7" name="TextBox 7"/>
            <p:cNvSpPr txBox="1"/>
            <p:nvPr/>
          </p:nvSpPr>
          <p:spPr>
            <a:xfrm>
              <a:off x="7348097" y="537238"/>
              <a:ext cx="15335473" cy="2031571"/>
            </a:xfrm>
            <a:prstGeom prst="rect">
              <a:avLst/>
            </a:prstGeom>
          </p:spPr>
          <p:txBody>
            <a:bodyPr lIns="0" tIns="0" rIns="0" bIns="0" rtlCol="0" anchor="t">
              <a:spAutoFit/>
            </a:bodyPr>
            <a:lstStyle/>
            <a:p>
              <a:pPr algn="l">
                <a:lnSpc>
                  <a:spcPts val="12880"/>
                </a:lnSpc>
              </a:pPr>
              <a:r>
                <a:rPr lang="en-US" sz="9200" spc="-184">
                  <a:solidFill>
                    <a:srgbClr val="31DAFF"/>
                  </a:solidFill>
                  <a:latin typeface="Open Sauce"/>
                  <a:ea typeface="Open Sauce"/>
                  <a:cs typeface="Open Sauce"/>
                  <a:sym typeface="Open Sauce"/>
                </a:rPr>
                <a:t>Recommendations</a:t>
              </a:r>
            </a:p>
          </p:txBody>
        </p:sp>
      </p:grpSp>
      <p:grpSp>
        <p:nvGrpSpPr>
          <p:cNvPr id="8" name="Group 8"/>
          <p:cNvGrpSpPr/>
          <p:nvPr/>
        </p:nvGrpSpPr>
        <p:grpSpPr>
          <a:xfrm>
            <a:off x="1028700" y="3975135"/>
            <a:ext cx="16230600" cy="5673198"/>
            <a:chOff x="0" y="0"/>
            <a:chExt cx="4274726" cy="1494176"/>
          </a:xfrm>
        </p:grpSpPr>
        <p:sp>
          <p:nvSpPr>
            <p:cNvPr id="9" name="Freeform 9"/>
            <p:cNvSpPr/>
            <p:nvPr/>
          </p:nvSpPr>
          <p:spPr>
            <a:xfrm>
              <a:off x="0" y="0"/>
              <a:ext cx="4274726" cy="1494176"/>
            </a:xfrm>
            <a:custGeom>
              <a:avLst/>
              <a:gdLst/>
              <a:ahLst/>
              <a:cxnLst/>
              <a:rect l="l" t="t" r="r" b="b"/>
              <a:pathLst>
                <a:path w="4274726" h="1494176">
                  <a:moveTo>
                    <a:pt x="0" y="0"/>
                  </a:moveTo>
                  <a:lnTo>
                    <a:pt x="4274726" y="0"/>
                  </a:lnTo>
                  <a:lnTo>
                    <a:pt x="4274726" y="1494176"/>
                  </a:lnTo>
                  <a:lnTo>
                    <a:pt x="0" y="1494176"/>
                  </a:lnTo>
                  <a:close/>
                </a:path>
              </a:pathLst>
            </a:custGeom>
            <a:ln w="19050" cap="sq">
              <a:solidFill>
                <a:srgbClr val="080708"/>
              </a:solidFill>
              <a:prstDash val="solid"/>
              <a:miter/>
            </a:ln>
          </p:spPr>
        </p:sp>
        <p:sp>
          <p:nvSpPr>
            <p:cNvPr id="10" name="TextBox 10"/>
            <p:cNvSpPr txBox="1"/>
            <p:nvPr/>
          </p:nvSpPr>
          <p:spPr>
            <a:xfrm>
              <a:off x="0" y="47625"/>
              <a:ext cx="4274726" cy="1446551"/>
            </a:xfrm>
            <a:prstGeom prst="rect">
              <a:avLst/>
            </a:prstGeom>
          </p:spPr>
          <p:txBody>
            <a:bodyPr lIns="50800" tIns="50800" rIns="50800" bIns="50800" rtlCol="0" anchor="ctr"/>
            <a:lstStyle/>
            <a:p>
              <a:pPr algn="ctr">
                <a:lnSpc>
                  <a:spcPts val="1134"/>
                </a:lnSpc>
              </a:pPr>
              <a:endParaRPr/>
            </a:p>
          </p:txBody>
        </p:sp>
      </p:grpSp>
      <p:grpSp>
        <p:nvGrpSpPr>
          <p:cNvPr id="11" name="Group 11"/>
          <p:cNvGrpSpPr/>
          <p:nvPr/>
        </p:nvGrpSpPr>
        <p:grpSpPr>
          <a:xfrm>
            <a:off x="1283551" y="4413007"/>
            <a:ext cx="5016014" cy="4797454"/>
            <a:chOff x="0" y="0"/>
            <a:chExt cx="1321090" cy="1263527"/>
          </a:xfrm>
        </p:grpSpPr>
        <p:sp>
          <p:nvSpPr>
            <p:cNvPr id="12" name="Freeform 12"/>
            <p:cNvSpPr/>
            <p:nvPr/>
          </p:nvSpPr>
          <p:spPr>
            <a:xfrm>
              <a:off x="0" y="0"/>
              <a:ext cx="1321090" cy="1263527"/>
            </a:xfrm>
            <a:custGeom>
              <a:avLst/>
              <a:gdLst/>
              <a:ahLst/>
              <a:cxnLst/>
              <a:rect l="l" t="t" r="r" b="b"/>
              <a:pathLst>
                <a:path w="1321090" h="1263527">
                  <a:moveTo>
                    <a:pt x="0" y="0"/>
                  </a:moveTo>
                  <a:lnTo>
                    <a:pt x="1321090" y="0"/>
                  </a:lnTo>
                  <a:lnTo>
                    <a:pt x="1321090" y="1263527"/>
                  </a:lnTo>
                  <a:lnTo>
                    <a:pt x="0" y="1263527"/>
                  </a:lnTo>
                  <a:close/>
                </a:path>
              </a:pathLst>
            </a:custGeom>
            <a:solidFill>
              <a:srgbClr val="E5E6E7"/>
            </a:solidFill>
            <a:ln cap="sq">
              <a:noFill/>
              <a:prstDash val="solid"/>
              <a:miter/>
            </a:ln>
          </p:spPr>
        </p:sp>
        <p:sp>
          <p:nvSpPr>
            <p:cNvPr id="13" name="TextBox 13"/>
            <p:cNvSpPr txBox="1"/>
            <p:nvPr/>
          </p:nvSpPr>
          <p:spPr>
            <a:xfrm>
              <a:off x="0" y="47625"/>
              <a:ext cx="1321090" cy="1215902"/>
            </a:xfrm>
            <a:prstGeom prst="rect">
              <a:avLst/>
            </a:prstGeom>
          </p:spPr>
          <p:txBody>
            <a:bodyPr lIns="50800" tIns="50800" rIns="50800" bIns="50800" rtlCol="0" anchor="ctr"/>
            <a:lstStyle/>
            <a:p>
              <a:pPr algn="ctr">
                <a:lnSpc>
                  <a:spcPts val="1134"/>
                </a:lnSpc>
              </a:pPr>
              <a:endParaRPr/>
            </a:p>
          </p:txBody>
        </p:sp>
      </p:grpSp>
      <p:grpSp>
        <p:nvGrpSpPr>
          <p:cNvPr id="14" name="Group 14"/>
          <p:cNvGrpSpPr/>
          <p:nvPr/>
        </p:nvGrpSpPr>
        <p:grpSpPr>
          <a:xfrm>
            <a:off x="6538500" y="4460846"/>
            <a:ext cx="5235408" cy="4797454"/>
            <a:chOff x="0" y="0"/>
            <a:chExt cx="1378873" cy="1263527"/>
          </a:xfrm>
        </p:grpSpPr>
        <p:sp>
          <p:nvSpPr>
            <p:cNvPr id="15" name="Freeform 15"/>
            <p:cNvSpPr/>
            <p:nvPr/>
          </p:nvSpPr>
          <p:spPr>
            <a:xfrm>
              <a:off x="0" y="0"/>
              <a:ext cx="1378873" cy="1263527"/>
            </a:xfrm>
            <a:custGeom>
              <a:avLst/>
              <a:gdLst/>
              <a:ahLst/>
              <a:cxnLst/>
              <a:rect l="l" t="t" r="r" b="b"/>
              <a:pathLst>
                <a:path w="1378873" h="1263527">
                  <a:moveTo>
                    <a:pt x="0" y="0"/>
                  </a:moveTo>
                  <a:lnTo>
                    <a:pt x="1378873" y="0"/>
                  </a:lnTo>
                  <a:lnTo>
                    <a:pt x="1378873" y="1263527"/>
                  </a:lnTo>
                  <a:lnTo>
                    <a:pt x="0" y="1263527"/>
                  </a:lnTo>
                  <a:close/>
                </a:path>
              </a:pathLst>
            </a:custGeom>
            <a:solidFill>
              <a:srgbClr val="E5E6E7"/>
            </a:solidFill>
            <a:ln cap="sq">
              <a:noFill/>
              <a:prstDash val="solid"/>
              <a:miter/>
            </a:ln>
          </p:spPr>
        </p:sp>
        <p:sp>
          <p:nvSpPr>
            <p:cNvPr id="16" name="TextBox 16"/>
            <p:cNvSpPr txBox="1"/>
            <p:nvPr/>
          </p:nvSpPr>
          <p:spPr>
            <a:xfrm>
              <a:off x="0" y="47625"/>
              <a:ext cx="1378873" cy="1215902"/>
            </a:xfrm>
            <a:prstGeom prst="rect">
              <a:avLst/>
            </a:prstGeom>
          </p:spPr>
          <p:txBody>
            <a:bodyPr lIns="50800" tIns="50800" rIns="50800" bIns="50800" rtlCol="0" anchor="ctr"/>
            <a:lstStyle/>
            <a:p>
              <a:pPr algn="ctr">
                <a:lnSpc>
                  <a:spcPts val="1134"/>
                </a:lnSpc>
              </a:pPr>
              <a:endParaRPr/>
            </a:p>
          </p:txBody>
        </p:sp>
      </p:grpSp>
      <p:grpSp>
        <p:nvGrpSpPr>
          <p:cNvPr id="17" name="Group 17"/>
          <p:cNvGrpSpPr/>
          <p:nvPr/>
        </p:nvGrpSpPr>
        <p:grpSpPr>
          <a:xfrm>
            <a:off x="11988466" y="4460846"/>
            <a:ext cx="4991637" cy="4797454"/>
            <a:chOff x="0" y="0"/>
            <a:chExt cx="1314670" cy="1263527"/>
          </a:xfrm>
        </p:grpSpPr>
        <p:sp>
          <p:nvSpPr>
            <p:cNvPr id="18" name="Freeform 18"/>
            <p:cNvSpPr/>
            <p:nvPr/>
          </p:nvSpPr>
          <p:spPr>
            <a:xfrm>
              <a:off x="0" y="0"/>
              <a:ext cx="1314670" cy="1263527"/>
            </a:xfrm>
            <a:custGeom>
              <a:avLst/>
              <a:gdLst/>
              <a:ahLst/>
              <a:cxnLst/>
              <a:rect l="l" t="t" r="r" b="b"/>
              <a:pathLst>
                <a:path w="1314670" h="1263527">
                  <a:moveTo>
                    <a:pt x="0" y="0"/>
                  </a:moveTo>
                  <a:lnTo>
                    <a:pt x="1314670" y="0"/>
                  </a:lnTo>
                  <a:lnTo>
                    <a:pt x="1314670" y="1263527"/>
                  </a:lnTo>
                  <a:lnTo>
                    <a:pt x="0" y="1263527"/>
                  </a:lnTo>
                  <a:close/>
                </a:path>
              </a:pathLst>
            </a:custGeom>
            <a:solidFill>
              <a:srgbClr val="E5E6E7"/>
            </a:solidFill>
            <a:ln cap="sq">
              <a:noFill/>
              <a:prstDash val="solid"/>
              <a:miter/>
            </a:ln>
          </p:spPr>
        </p:sp>
        <p:sp>
          <p:nvSpPr>
            <p:cNvPr id="19" name="TextBox 19"/>
            <p:cNvSpPr txBox="1"/>
            <p:nvPr/>
          </p:nvSpPr>
          <p:spPr>
            <a:xfrm>
              <a:off x="0" y="47625"/>
              <a:ext cx="1314670" cy="1215902"/>
            </a:xfrm>
            <a:prstGeom prst="rect">
              <a:avLst/>
            </a:prstGeom>
          </p:spPr>
          <p:txBody>
            <a:bodyPr lIns="50800" tIns="50800" rIns="50800" bIns="50800" rtlCol="0" anchor="ctr"/>
            <a:lstStyle/>
            <a:p>
              <a:pPr algn="ctr">
                <a:lnSpc>
                  <a:spcPts val="1134"/>
                </a:lnSpc>
              </a:pPr>
              <a:endParaRPr/>
            </a:p>
          </p:txBody>
        </p:sp>
      </p:grpSp>
      <p:sp>
        <p:nvSpPr>
          <p:cNvPr id="20" name="TextBox 20"/>
          <p:cNvSpPr txBox="1"/>
          <p:nvPr/>
        </p:nvSpPr>
        <p:spPr>
          <a:xfrm>
            <a:off x="1461322" y="5750523"/>
            <a:ext cx="4660471" cy="31908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Route high-value users to top-performing agents</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Reduce exposure to low-rated agents</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Huge quality gap: Top (~6 rating) vs Bottom (~0.6)</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Poor agents handling significant volume → hurting CX</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Customer satisfaction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Repeat usage &amp; retention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More consistent service quality</a:t>
            </a:r>
          </a:p>
          <a:p>
            <a:pPr algn="l">
              <a:lnSpc>
                <a:spcPts val="2100"/>
              </a:lnSpc>
            </a:pPr>
            <a:endParaRPr lang="en-US" sz="1500" spc="-76">
              <a:solidFill>
                <a:srgbClr val="212121"/>
              </a:solidFill>
              <a:latin typeface="Open Sauce"/>
              <a:ea typeface="Open Sauce"/>
              <a:cs typeface="Open Sauce"/>
              <a:sym typeface="Open Sauce"/>
            </a:endParaRPr>
          </a:p>
        </p:txBody>
      </p:sp>
      <p:sp>
        <p:nvSpPr>
          <p:cNvPr id="21" name="TextBox 21"/>
          <p:cNvSpPr txBox="1"/>
          <p:nvPr/>
        </p:nvSpPr>
        <p:spPr>
          <a:xfrm>
            <a:off x="2048824" y="4707255"/>
            <a:ext cx="3631771"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Implement Performance-Based Agent Assignment</a:t>
            </a:r>
          </a:p>
        </p:txBody>
      </p:sp>
      <p:sp>
        <p:nvSpPr>
          <p:cNvPr id="22" name="AutoShape 22"/>
          <p:cNvSpPr/>
          <p:nvPr/>
        </p:nvSpPr>
        <p:spPr>
          <a:xfrm>
            <a:off x="1975672" y="5655609"/>
            <a:ext cx="3631771" cy="0"/>
          </a:xfrm>
          <a:prstGeom prst="line">
            <a:avLst/>
          </a:prstGeom>
          <a:ln w="19050" cap="flat">
            <a:solidFill>
              <a:srgbClr val="000000"/>
            </a:solidFill>
            <a:prstDash val="solid"/>
            <a:headEnd type="none" w="sm" len="sm"/>
            <a:tailEnd type="none" w="sm" len="sm"/>
          </a:ln>
        </p:spPr>
      </p:sp>
      <p:sp>
        <p:nvSpPr>
          <p:cNvPr id="23" name="TextBox 23"/>
          <p:cNvSpPr txBox="1"/>
          <p:nvPr/>
        </p:nvSpPr>
        <p:spPr>
          <a:xfrm>
            <a:off x="6799184" y="5750523"/>
            <a:ext cx="4689632" cy="31908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Adjust staffing for demand-based scheduling</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Introduce incentives for off-peak availability</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Non-peak hours have higher failure &amp; no-answer rates (~46%)</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Demand-supply mismatch across time slots</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Service availability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Completion rates</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Better demand utilization</a:t>
            </a:r>
          </a:p>
          <a:p>
            <a:pPr algn="l">
              <a:lnSpc>
                <a:spcPts val="2100"/>
              </a:lnSpc>
            </a:pPr>
            <a:endParaRPr lang="en-US" sz="1500" spc="-76">
              <a:solidFill>
                <a:srgbClr val="212121"/>
              </a:solidFill>
              <a:latin typeface="Open Sauce"/>
              <a:ea typeface="Open Sauce"/>
              <a:cs typeface="Open Sauce"/>
              <a:sym typeface="Open Sauce"/>
            </a:endParaRPr>
          </a:p>
        </p:txBody>
      </p:sp>
      <p:sp>
        <p:nvSpPr>
          <p:cNvPr id="24" name="TextBox 24"/>
          <p:cNvSpPr txBox="1"/>
          <p:nvPr/>
        </p:nvSpPr>
        <p:spPr>
          <a:xfrm>
            <a:off x="7328151" y="4707255"/>
            <a:ext cx="3631771"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Improve Non-Peak Hour Performance</a:t>
            </a:r>
          </a:p>
        </p:txBody>
      </p:sp>
      <p:sp>
        <p:nvSpPr>
          <p:cNvPr id="25" name="AutoShape 25"/>
          <p:cNvSpPr/>
          <p:nvPr/>
        </p:nvSpPr>
        <p:spPr>
          <a:xfrm>
            <a:off x="7328114" y="5646084"/>
            <a:ext cx="3631771" cy="0"/>
          </a:xfrm>
          <a:prstGeom prst="line">
            <a:avLst/>
          </a:prstGeom>
          <a:ln w="19050" cap="flat">
            <a:solidFill>
              <a:srgbClr val="000000"/>
            </a:solidFill>
            <a:prstDash val="solid"/>
            <a:headEnd type="none" w="sm" len="sm"/>
            <a:tailEnd type="none" w="sm" len="sm"/>
          </a:ln>
        </p:spPr>
      </p:sp>
      <p:sp>
        <p:nvSpPr>
          <p:cNvPr id="26" name="TextBox 26"/>
          <p:cNvSpPr txBox="1"/>
          <p:nvPr/>
        </p:nvSpPr>
        <p:spPr>
          <a:xfrm>
            <a:off x="12328677" y="5750523"/>
            <a:ext cx="4311216" cy="3457575"/>
          </a:xfrm>
          <a:prstGeom prst="rect">
            <a:avLst/>
          </a:prstGeom>
        </p:spPr>
        <p:txBody>
          <a:bodyPr lIns="0" tIns="0" rIns="0" bIns="0" rtlCol="0" anchor="t">
            <a:spAutoFit/>
          </a:bodyPr>
          <a:lstStyle/>
          <a:p>
            <a:pPr algn="l">
              <a:lnSpc>
                <a:spcPts val="2100"/>
              </a:lnSpc>
            </a:pPr>
            <a:r>
              <a:rPr lang="en-US" sz="1500" spc="-76">
                <a:solidFill>
                  <a:srgbClr val="212121"/>
                </a:solidFill>
                <a:latin typeface="Open Sauce"/>
                <a:ea typeface="Open Sauce"/>
                <a:cs typeface="Open Sauce"/>
                <a:sym typeface="Open Sauce"/>
              </a:rPr>
              <a:t>What to do:</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Launch loyalty programs &amp; repeat-user incentives</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Invest in new user acquisition campaigns</a:t>
            </a:r>
          </a:p>
          <a:p>
            <a:pPr algn="l">
              <a:lnSpc>
                <a:spcPts val="2100"/>
              </a:lnSpc>
            </a:pPr>
            <a:r>
              <a:rPr lang="en-US" sz="1500" spc="-76">
                <a:solidFill>
                  <a:srgbClr val="212121"/>
                </a:solidFill>
                <a:latin typeface="Open Sauce"/>
                <a:ea typeface="Open Sauce"/>
                <a:cs typeface="Open Sauce"/>
                <a:sym typeface="Open Sauce"/>
              </a:rPr>
              <a:t>Why:</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~72% calls are repeat → strong retention but high dependency risk</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Low new user contribution limits growth</a:t>
            </a:r>
          </a:p>
          <a:p>
            <a:pPr algn="l">
              <a:lnSpc>
                <a:spcPts val="2100"/>
              </a:lnSpc>
            </a:pPr>
            <a:r>
              <a:rPr lang="en-US" sz="1500" spc="-76">
                <a:solidFill>
                  <a:srgbClr val="212121"/>
                </a:solidFill>
                <a:latin typeface="Open Sauce"/>
                <a:ea typeface="Open Sauce"/>
                <a:cs typeface="Open Sauce"/>
                <a:sym typeface="Open Sauce"/>
              </a:rPr>
              <a:t>Impact:</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 Customer lifetime value (CLTV)</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Diversified user base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Sustainable long-term growth</a:t>
            </a:r>
          </a:p>
          <a:p>
            <a:pPr algn="l">
              <a:lnSpc>
                <a:spcPts val="2100"/>
              </a:lnSpc>
            </a:pPr>
            <a:endParaRPr lang="en-US" sz="1500" spc="-76">
              <a:solidFill>
                <a:srgbClr val="212121"/>
              </a:solidFill>
              <a:latin typeface="Open Sauce"/>
              <a:ea typeface="Open Sauce"/>
              <a:cs typeface="Open Sauce"/>
              <a:sym typeface="Open Sauce"/>
            </a:endParaRPr>
          </a:p>
        </p:txBody>
      </p:sp>
      <p:sp>
        <p:nvSpPr>
          <p:cNvPr id="27" name="TextBox 27"/>
          <p:cNvSpPr txBox="1"/>
          <p:nvPr/>
        </p:nvSpPr>
        <p:spPr>
          <a:xfrm>
            <a:off x="12158321" y="4707255"/>
            <a:ext cx="4651927" cy="8248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 Strengthen Customer Retention + New User Acquisition</a:t>
            </a:r>
          </a:p>
        </p:txBody>
      </p:sp>
      <p:sp>
        <p:nvSpPr>
          <p:cNvPr id="28" name="AutoShape 28"/>
          <p:cNvSpPr/>
          <p:nvPr/>
        </p:nvSpPr>
        <p:spPr>
          <a:xfrm>
            <a:off x="12607373" y="5665134"/>
            <a:ext cx="3631771" cy="0"/>
          </a:xfrm>
          <a:prstGeom prst="line">
            <a:avLst/>
          </a:prstGeom>
          <a:ln w="19050" cap="flat">
            <a:solidFill>
              <a:srgbClr val="000000"/>
            </a:solidFill>
            <a:prstDash val="solid"/>
            <a:headEnd type="none" w="sm" len="sm"/>
            <a:tailEnd type="none" w="sm" len="sm"/>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96536-5D0C-FCBA-3BBB-2AD13DAB647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CB89E57-F17B-A018-F1CC-EB3E1A936E19}"/>
              </a:ext>
            </a:extLst>
          </p:cNvPr>
          <p:cNvPicPr>
            <a:picLocks noChangeAspect="1"/>
          </p:cNvPicPr>
          <p:nvPr/>
        </p:nvPicPr>
        <p:blipFill>
          <a:blip r:embed="rId2"/>
          <a:stretch>
            <a:fillRect/>
          </a:stretch>
        </p:blipFill>
        <p:spPr>
          <a:xfrm>
            <a:off x="256032" y="2247900"/>
            <a:ext cx="17775936" cy="5486400"/>
          </a:xfrm>
          <a:prstGeom prst="rect">
            <a:avLst/>
          </a:prstGeom>
        </p:spPr>
      </p:pic>
    </p:spTree>
    <p:extLst>
      <p:ext uri="{BB962C8B-B14F-4D97-AF65-F5344CB8AC3E}">
        <p14:creationId xmlns:p14="http://schemas.microsoft.com/office/powerpoint/2010/main" val="3270984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5080" y="3095548"/>
            <a:ext cx="10289280" cy="1708151"/>
          </a:xfrm>
          <a:prstGeom prst="rect">
            <a:avLst/>
          </a:prstGeom>
        </p:spPr>
        <p:txBody>
          <a:bodyPr lIns="0" tIns="0" rIns="0" bIns="0" rtlCol="0" anchor="t">
            <a:spAutoFit/>
          </a:bodyPr>
          <a:lstStyle/>
          <a:p>
            <a:pPr algn="r">
              <a:lnSpc>
                <a:spcPts val="13999"/>
              </a:lnSpc>
            </a:pPr>
            <a:r>
              <a:rPr lang="en-US" sz="9999" b="1" spc="-199">
                <a:solidFill>
                  <a:srgbClr val="080708"/>
                </a:solidFill>
                <a:latin typeface="Open Sauce Bold"/>
                <a:ea typeface="Open Sauce Bold"/>
                <a:cs typeface="Open Sauce Bold"/>
                <a:sym typeface="Open Sauce Bold"/>
              </a:rPr>
              <a:t>Conclusion</a:t>
            </a:r>
          </a:p>
        </p:txBody>
      </p:sp>
      <p:grpSp>
        <p:nvGrpSpPr>
          <p:cNvPr id="3" name="Group 3"/>
          <p:cNvGrpSpPr/>
          <p:nvPr/>
        </p:nvGrpSpPr>
        <p:grpSpPr>
          <a:xfrm>
            <a:off x="-240789" y="2270609"/>
            <a:ext cx="3926108" cy="6978166"/>
            <a:chOff x="0" y="0"/>
            <a:chExt cx="1034037" cy="1837871"/>
          </a:xfrm>
        </p:grpSpPr>
        <p:sp>
          <p:nvSpPr>
            <p:cNvPr id="4" name="Freeform 4"/>
            <p:cNvSpPr/>
            <p:nvPr/>
          </p:nvSpPr>
          <p:spPr>
            <a:xfrm>
              <a:off x="0" y="0"/>
              <a:ext cx="1034037" cy="1837871"/>
            </a:xfrm>
            <a:custGeom>
              <a:avLst/>
              <a:gdLst/>
              <a:ahLst/>
              <a:cxnLst/>
              <a:rect l="l" t="t" r="r" b="b"/>
              <a:pathLst>
                <a:path w="1034037" h="1837871">
                  <a:moveTo>
                    <a:pt x="0" y="0"/>
                  </a:moveTo>
                  <a:lnTo>
                    <a:pt x="1034037" y="0"/>
                  </a:lnTo>
                  <a:lnTo>
                    <a:pt x="1034037" y="1837871"/>
                  </a:lnTo>
                  <a:lnTo>
                    <a:pt x="0" y="1837871"/>
                  </a:lnTo>
                  <a:close/>
                </a:path>
              </a:pathLst>
            </a:custGeom>
            <a:ln w="19050" cap="sq">
              <a:solidFill>
                <a:srgbClr val="080708"/>
              </a:solidFill>
              <a:prstDash val="solid"/>
              <a:miter/>
            </a:ln>
          </p:spPr>
        </p:sp>
        <p:sp>
          <p:nvSpPr>
            <p:cNvPr id="5" name="TextBox 5"/>
            <p:cNvSpPr txBox="1"/>
            <p:nvPr/>
          </p:nvSpPr>
          <p:spPr>
            <a:xfrm>
              <a:off x="0" y="47625"/>
              <a:ext cx="1034037" cy="1790246"/>
            </a:xfrm>
            <a:prstGeom prst="rect">
              <a:avLst/>
            </a:prstGeom>
          </p:spPr>
          <p:txBody>
            <a:bodyPr lIns="50800" tIns="50800" rIns="50800" bIns="50800" rtlCol="0" anchor="ctr"/>
            <a:lstStyle/>
            <a:p>
              <a:pPr algn="ctr">
                <a:lnSpc>
                  <a:spcPts val="1134"/>
                </a:lnSpc>
              </a:pPr>
              <a:endParaRPr/>
            </a:p>
          </p:txBody>
        </p:sp>
      </p:grpSp>
      <p:grpSp>
        <p:nvGrpSpPr>
          <p:cNvPr id="6" name="Group 6"/>
          <p:cNvGrpSpPr/>
          <p:nvPr/>
        </p:nvGrpSpPr>
        <p:grpSpPr>
          <a:xfrm>
            <a:off x="-130153" y="2690492"/>
            <a:ext cx="3386848" cy="6056443"/>
            <a:chOff x="0" y="0"/>
            <a:chExt cx="771313" cy="1379280"/>
          </a:xfrm>
        </p:grpSpPr>
        <p:sp>
          <p:nvSpPr>
            <p:cNvPr id="7" name="Freeform 7"/>
            <p:cNvSpPr/>
            <p:nvPr/>
          </p:nvSpPr>
          <p:spPr>
            <a:xfrm>
              <a:off x="0" y="0"/>
              <a:ext cx="771313" cy="1379280"/>
            </a:xfrm>
            <a:custGeom>
              <a:avLst/>
              <a:gdLst/>
              <a:ahLst/>
              <a:cxnLst/>
              <a:rect l="l" t="t" r="r" b="b"/>
              <a:pathLst>
                <a:path w="771313" h="1379280">
                  <a:moveTo>
                    <a:pt x="0" y="0"/>
                  </a:moveTo>
                  <a:lnTo>
                    <a:pt x="771313" y="0"/>
                  </a:lnTo>
                  <a:lnTo>
                    <a:pt x="771313" y="1379280"/>
                  </a:lnTo>
                  <a:lnTo>
                    <a:pt x="0" y="1379280"/>
                  </a:lnTo>
                  <a:close/>
                </a:path>
              </a:pathLst>
            </a:custGeom>
            <a:blipFill>
              <a:blip r:embed="rId2"/>
              <a:stretch>
                <a:fillRect l="-39411" r="-39411"/>
              </a:stretch>
            </a:blipFill>
          </p:spPr>
        </p:sp>
      </p:grpSp>
      <p:sp>
        <p:nvSpPr>
          <p:cNvPr id="8" name="AutoShape 8"/>
          <p:cNvSpPr/>
          <p:nvPr/>
        </p:nvSpPr>
        <p:spPr>
          <a:xfrm>
            <a:off x="4534138" y="7516591"/>
            <a:ext cx="5939468" cy="0"/>
          </a:xfrm>
          <a:prstGeom prst="line">
            <a:avLst/>
          </a:prstGeom>
          <a:ln w="19050" cap="flat">
            <a:solidFill>
              <a:srgbClr val="000000"/>
            </a:solidFill>
            <a:prstDash val="solid"/>
            <a:headEnd type="none" w="sm" len="sm"/>
            <a:tailEnd type="none" w="sm" len="sm"/>
          </a:ln>
        </p:spPr>
      </p:sp>
      <p:sp>
        <p:nvSpPr>
          <p:cNvPr id="9" name="AutoShape 9"/>
          <p:cNvSpPr/>
          <p:nvPr/>
        </p:nvSpPr>
        <p:spPr>
          <a:xfrm>
            <a:off x="4447319" y="9248775"/>
            <a:ext cx="5939468" cy="0"/>
          </a:xfrm>
          <a:prstGeom prst="line">
            <a:avLst/>
          </a:prstGeom>
          <a:ln w="19050" cap="flat">
            <a:solidFill>
              <a:srgbClr val="000000"/>
            </a:solidFill>
            <a:prstDash val="solid"/>
            <a:headEnd type="none" w="sm" len="sm"/>
            <a:tailEnd type="none" w="sm" len="sm"/>
          </a:ln>
        </p:spPr>
      </p:sp>
      <p:grpSp>
        <p:nvGrpSpPr>
          <p:cNvPr id="10" name="Group 10"/>
          <p:cNvGrpSpPr/>
          <p:nvPr/>
        </p:nvGrpSpPr>
        <p:grpSpPr>
          <a:xfrm>
            <a:off x="11233013" y="1028700"/>
            <a:ext cx="6440697" cy="8220075"/>
            <a:chOff x="0" y="0"/>
            <a:chExt cx="1696315" cy="2164958"/>
          </a:xfrm>
        </p:grpSpPr>
        <p:sp>
          <p:nvSpPr>
            <p:cNvPr id="11" name="Freeform 11"/>
            <p:cNvSpPr/>
            <p:nvPr/>
          </p:nvSpPr>
          <p:spPr>
            <a:xfrm>
              <a:off x="0" y="0"/>
              <a:ext cx="1696315" cy="2164958"/>
            </a:xfrm>
            <a:custGeom>
              <a:avLst/>
              <a:gdLst/>
              <a:ahLst/>
              <a:cxnLst/>
              <a:rect l="l" t="t" r="r" b="b"/>
              <a:pathLst>
                <a:path w="1696315" h="2164958">
                  <a:moveTo>
                    <a:pt x="0" y="0"/>
                  </a:moveTo>
                  <a:lnTo>
                    <a:pt x="1696315" y="0"/>
                  </a:lnTo>
                  <a:lnTo>
                    <a:pt x="1696315" y="2164958"/>
                  </a:lnTo>
                  <a:lnTo>
                    <a:pt x="0" y="2164958"/>
                  </a:lnTo>
                  <a:close/>
                </a:path>
              </a:pathLst>
            </a:custGeom>
            <a:ln w="19050" cap="sq">
              <a:solidFill>
                <a:srgbClr val="080708"/>
              </a:solidFill>
              <a:prstDash val="solid"/>
              <a:miter/>
            </a:ln>
          </p:spPr>
        </p:sp>
        <p:sp>
          <p:nvSpPr>
            <p:cNvPr id="12" name="TextBox 12"/>
            <p:cNvSpPr txBox="1"/>
            <p:nvPr/>
          </p:nvSpPr>
          <p:spPr>
            <a:xfrm>
              <a:off x="0" y="47625"/>
              <a:ext cx="1696315" cy="2117333"/>
            </a:xfrm>
            <a:prstGeom prst="rect">
              <a:avLst/>
            </a:prstGeom>
          </p:spPr>
          <p:txBody>
            <a:bodyPr lIns="50800" tIns="50800" rIns="50800" bIns="50800" rtlCol="0" anchor="ctr"/>
            <a:lstStyle/>
            <a:p>
              <a:pPr algn="ctr">
                <a:lnSpc>
                  <a:spcPts val="1134"/>
                </a:lnSpc>
              </a:pPr>
              <a:endParaRPr/>
            </a:p>
          </p:txBody>
        </p:sp>
      </p:grpSp>
      <p:grpSp>
        <p:nvGrpSpPr>
          <p:cNvPr id="13" name="Group 13"/>
          <p:cNvGrpSpPr/>
          <p:nvPr/>
        </p:nvGrpSpPr>
        <p:grpSpPr>
          <a:xfrm>
            <a:off x="11652085" y="1499941"/>
            <a:ext cx="5607215" cy="3638796"/>
            <a:chOff x="0" y="0"/>
            <a:chExt cx="1476797" cy="958366"/>
          </a:xfrm>
        </p:grpSpPr>
        <p:sp>
          <p:nvSpPr>
            <p:cNvPr id="14" name="Freeform 14"/>
            <p:cNvSpPr/>
            <p:nvPr/>
          </p:nvSpPr>
          <p:spPr>
            <a:xfrm>
              <a:off x="0" y="0"/>
              <a:ext cx="1476797" cy="958366"/>
            </a:xfrm>
            <a:custGeom>
              <a:avLst/>
              <a:gdLst/>
              <a:ahLst/>
              <a:cxnLst/>
              <a:rect l="l" t="t" r="r" b="b"/>
              <a:pathLst>
                <a:path w="1476797" h="958366">
                  <a:moveTo>
                    <a:pt x="0" y="0"/>
                  </a:moveTo>
                  <a:lnTo>
                    <a:pt x="1476797" y="0"/>
                  </a:lnTo>
                  <a:lnTo>
                    <a:pt x="1476797" y="958366"/>
                  </a:lnTo>
                  <a:lnTo>
                    <a:pt x="0" y="958366"/>
                  </a:lnTo>
                  <a:close/>
                </a:path>
              </a:pathLst>
            </a:custGeom>
            <a:solidFill>
              <a:srgbClr val="E5E6E7"/>
            </a:solidFill>
            <a:ln cap="sq">
              <a:noFill/>
              <a:prstDash val="solid"/>
              <a:miter/>
            </a:ln>
          </p:spPr>
        </p:sp>
        <p:sp>
          <p:nvSpPr>
            <p:cNvPr id="15" name="TextBox 15"/>
            <p:cNvSpPr txBox="1"/>
            <p:nvPr/>
          </p:nvSpPr>
          <p:spPr>
            <a:xfrm>
              <a:off x="0" y="47625"/>
              <a:ext cx="1476797" cy="910741"/>
            </a:xfrm>
            <a:prstGeom prst="rect">
              <a:avLst/>
            </a:prstGeom>
          </p:spPr>
          <p:txBody>
            <a:bodyPr lIns="50800" tIns="50800" rIns="50800" bIns="50800" rtlCol="0" anchor="ctr"/>
            <a:lstStyle/>
            <a:p>
              <a:pPr algn="ctr">
                <a:lnSpc>
                  <a:spcPts val="1134"/>
                </a:lnSpc>
              </a:pPr>
              <a:endParaRPr/>
            </a:p>
          </p:txBody>
        </p:sp>
      </p:grpSp>
      <p:grpSp>
        <p:nvGrpSpPr>
          <p:cNvPr id="16" name="Group 16"/>
          <p:cNvGrpSpPr/>
          <p:nvPr/>
        </p:nvGrpSpPr>
        <p:grpSpPr>
          <a:xfrm>
            <a:off x="11664231" y="5557247"/>
            <a:ext cx="5595069" cy="3189687"/>
            <a:chOff x="0" y="0"/>
            <a:chExt cx="1473599" cy="840082"/>
          </a:xfrm>
        </p:grpSpPr>
        <p:sp>
          <p:nvSpPr>
            <p:cNvPr id="17" name="Freeform 17"/>
            <p:cNvSpPr/>
            <p:nvPr/>
          </p:nvSpPr>
          <p:spPr>
            <a:xfrm>
              <a:off x="0" y="0"/>
              <a:ext cx="1473599" cy="840082"/>
            </a:xfrm>
            <a:custGeom>
              <a:avLst/>
              <a:gdLst/>
              <a:ahLst/>
              <a:cxnLst/>
              <a:rect l="l" t="t" r="r" b="b"/>
              <a:pathLst>
                <a:path w="1473599" h="840082">
                  <a:moveTo>
                    <a:pt x="0" y="0"/>
                  </a:moveTo>
                  <a:lnTo>
                    <a:pt x="1473599" y="0"/>
                  </a:lnTo>
                  <a:lnTo>
                    <a:pt x="1473599" y="840082"/>
                  </a:lnTo>
                  <a:lnTo>
                    <a:pt x="0" y="840082"/>
                  </a:lnTo>
                  <a:close/>
                </a:path>
              </a:pathLst>
            </a:custGeom>
            <a:solidFill>
              <a:srgbClr val="E5E6E7"/>
            </a:solidFill>
            <a:ln cap="sq">
              <a:noFill/>
              <a:prstDash val="solid"/>
              <a:miter/>
            </a:ln>
          </p:spPr>
        </p:sp>
        <p:sp>
          <p:nvSpPr>
            <p:cNvPr id="18" name="TextBox 18"/>
            <p:cNvSpPr txBox="1"/>
            <p:nvPr/>
          </p:nvSpPr>
          <p:spPr>
            <a:xfrm>
              <a:off x="0" y="47625"/>
              <a:ext cx="1473599" cy="792457"/>
            </a:xfrm>
            <a:prstGeom prst="rect">
              <a:avLst/>
            </a:prstGeom>
          </p:spPr>
          <p:txBody>
            <a:bodyPr lIns="50800" tIns="50800" rIns="50800" bIns="50800" rtlCol="0" anchor="ctr"/>
            <a:lstStyle/>
            <a:p>
              <a:pPr algn="ctr">
                <a:lnSpc>
                  <a:spcPts val="1134"/>
                </a:lnSpc>
              </a:pPr>
              <a:endParaRPr/>
            </a:p>
          </p:txBody>
        </p:sp>
      </p:grpSp>
      <p:sp>
        <p:nvSpPr>
          <p:cNvPr id="19" name="Freeform 19"/>
          <p:cNvSpPr/>
          <p:nvPr/>
        </p:nvSpPr>
        <p:spPr>
          <a:xfrm rot="-5400000">
            <a:off x="4579894" y="2644735"/>
            <a:ext cx="438299" cy="529812"/>
          </a:xfrm>
          <a:custGeom>
            <a:avLst/>
            <a:gdLst/>
            <a:ahLst/>
            <a:cxnLst/>
            <a:rect l="l" t="t" r="r" b="b"/>
            <a:pathLst>
              <a:path w="438299" h="529812">
                <a:moveTo>
                  <a:pt x="0" y="0"/>
                </a:moveTo>
                <a:lnTo>
                  <a:pt x="438299" y="0"/>
                </a:lnTo>
                <a:lnTo>
                  <a:pt x="438299" y="529812"/>
                </a:lnTo>
                <a:lnTo>
                  <a:pt x="0" y="52981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4534138" y="7785148"/>
            <a:ext cx="6026287" cy="1166495"/>
          </a:xfrm>
          <a:prstGeom prst="rect">
            <a:avLst/>
          </a:prstGeom>
        </p:spPr>
        <p:txBody>
          <a:bodyPr lIns="0" tIns="0" rIns="0" bIns="0" rtlCol="0" anchor="t">
            <a:spAutoFit/>
          </a:bodyPr>
          <a:lstStyle/>
          <a:p>
            <a:pPr algn="r">
              <a:lnSpc>
                <a:spcPts val="2379"/>
              </a:lnSpc>
            </a:pPr>
            <a:r>
              <a:rPr lang="en-US" sz="1699" b="1" spc="-86">
                <a:solidFill>
                  <a:srgbClr val="212121"/>
                </a:solidFill>
                <a:latin typeface="Open Sauce Bold"/>
                <a:ea typeface="Open Sauce Bold"/>
                <a:cs typeface="Open Sauce Bold"/>
                <a:sym typeface="Open Sauce Bold"/>
              </a:rPr>
              <a:t>By addressing operational inefficiencies and unlocking underperforming channels, the call center can significantly improve customer satisfaction, increase revenue efficiency, and build a scalable, high-performance service model</a:t>
            </a:r>
          </a:p>
        </p:txBody>
      </p:sp>
      <p:sp>
        <p:nvSpPr>
          <p:cNvPr id="21" name="TextBox 21"/>
          <p:cNvSpPr txBox="1"/>
          <p:nvPr/>
        </p:nvSpPr>
        <p:spPr>
          <a:xfrm>
            <a:off x="12592629" y="1694204"/>
            <a:ext cx="3910258"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Key Insights</a:t>
            </a:r>
          </a:p>
        </p:txBody>
      </p:sp>
      <p:sp>
        <p:nvSpPr>
          <p:cNvPr id="22" name="TextBox 22"/>
          <p:cNvSpPr txBox="1"/>
          <p:nvPr/>
        </p:nvSpPr>
        <p:spPr>
          <a:xfrm>
            <a:off x="11768784" y="2219325"/>
            <a:ext cx="5557949" cy="2924175"/>
          </a:xfrm>
          <a:prstGeom prst="rect">
            <a:avLst/>
          </a:prstGeom>
        </p:spPr>
        <p:txBody>
          <a:bodyPr lIns="0" tIns="0" rIns="0" bIns="0" rtlCol="0" anchor="t">
            <a:spAutoFit/>
          </a:bodyPr>
          <a:lstStyle/>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Demand is highly concentrated and volatile, creating planning challenges</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Business is over-dependent on call channel for both revenue and satisfaction</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Chat channel underperforms despite handling majority of volume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Significant agent inefficiency and quality gaps impact overall performance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Customer base shows strong retention but weak new user growth</a:t>
            </a:r>
          </a:p>
          <a:p>
            <a:pPr algn="l">
              <a:lnSpc>
                <a:spcPts val="2100"/>
              </a:lnSpc>
            </a:pPr>
            <a:endParaRPr lang="en-US" sz="1500" spc="-76">
              <a:solidFill>
                <a:srgbClr val="212121"/>
              </a:solidFill>
              <a:latin typeface="Open Sauce"/>
              <a:ea typeface="Open Sauce"/>
              <a:cs typeface="Open Sauce"/>
              <a:sym typeface="Open Sauce"/>
            </a:endParaRPr>
          </a:p>
        </p:txBody>
      </p:sp>
      <p:sp>
        <p:nvSpPr>
          <p:cNvPr id="23" name="TextBox 23"/>
          <p:cNvSpPr txBox="1"/>
          <p:nvPr/>
        </p:nvSpPr>
        <p:spPr>
          <a:xfrm>
            <a:off x="12592629" y="5943224"/>
            <a:ext cx="3910258" cy="405765"/>
          </a:xfrm>
          <a:prstGeom prst="rect">
            <a:avLst/>
          </a:prstGeom>
        </p:spPr>
        <p:txBody>
          <a:bodyPr lIns="0" tIns="0" rIns="0" bIns="0" rtlCol="0" anchor="t">
            <a:spAutoFit/>
          </a:bodyPr>
          <a:lstStyle/>
          <a:p>
            <a:pPr algn="ctr">
              <a:lnSpc>
                <a:spcPts val="3359"/>
              </a:lnSpc>
            </a:pPr>
            <a:r>
              <a:rPr lang="en-US" sz="2400" spc="-122">
                <a:solidFill>
                  <a:srgbClr val="212121"/>
                </a:solidFill>
                <a:latin typeface="Open Sauce"/>
                <a:ea typeface="Open Sauce"/>
                <a:cs typeface="Open Sauce"/>
                <a:sym typeface="Open Sauce"/>
              </a:rPr>
              <a:t>Strategic Direction</a:t>
            </a:r>
          </a:p>
        </p:txBody>
      </p:sp>
      <p:sp>
        <p:nvSpPr>
          <p:cNvPr id="24" name="TextBox 24"/>
          <p:cNvSpPr txBox="1"/>
          <p:nvPr/>
        </p:nvSpPr>
        <p:spPr>
          <a:xfrm>
            <a:off x="11986314" y="6501389"/>
            <a:ext cx="4934096" cy="2124075"/>
          </a:xfrm>
          <a:prstGeom prst="rect">
            <a:avLst/>
          </a:prstGeom>
        </p:spPr>
        <p:txBody>
          <a:bodyPr lIns="0" tIns="0" rIns="0" bIns="0" rtlCol="0" anchor="t">
            <a:spAutoFit/>
          </a:bodyPr>
          <a:lstStyle/>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Improve call completion and reduce drop-offs to unlock immediate revenue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Transform chat experience to convert high volume into high value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Optimize workforce allocation and agent performance</a:t>
            </a:r>
          </a:p>
          <a:p>
            <a:pPr marL="323850" lvl="1" indent="-161925" algn="l">
              <a:lnSpc>
                <a:spcPts val="2100"/>
              </a:lnSpc>
              <a:buFont typeface="Arial"/>
              <a:buChar char="•"/>
            </a:pPr>
            <a:r>
              <a:rPr lang="en-US" sz="1500" spc="-76">
                <a:solidFill>
                  <a:srgbClr val="212121"/>
                </a:solidFill>
                <a:latin typeface="Open Sauce"/>
                <a:ea typeface="Open Sauce"/>
                <a:cs typeface="Open Sauce"/>
                <a:sym typeface="Open Sauce"/>
              </a:rPr>
              <a:t>Invest in technology, training, and customer experience improvements</a:t>
            </a:r>
          </a:p>
          <a:p>
            <a:pPr algn="l">
              <a:lnSpc>
                <a:spcPts val="2100"/>
              </a:lnSpc>
            </a:pPr>
            <a:endParaRPr lang="en-US" sz="1500" spc="-76">
              <a:solidFill>
                <a:srgbClr val="212121"/>
              </a:solidFill>
              <a:latin typeface="Open Sauce"/>
              <a:ea typeface="Open Sauce"/>
              <a:cs typeface="Open Sauce"/>
              <a:sym typeface="Open Sauc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684267"/>
            <a:ext cx="5667262" cy="2327886"/>
          </a:xfrm>
          <a:prstGeom prst="rect">
            <a:avLst/>
          </a:prstGeom>
        </p:spPr>
        <p:txBody>
          <a:bodyPr lIns="0" tIns="0" rIns="0" bIns="0" rtlCol="0" anchor="t">
            <a:spAutoFit/>
          </a:bodyPr>
          <a:lstStyle/>
          <a:p>
            <a:pPr algn="l">
              <a:lnSpc>
                <a:spcPts val="19059"/>
              </a:lnSpc>
            </a:pPr>
            <a:r>
              <a:rPr lang="en-US" sz="13613" b="1" spc="-272">
                <a:solidFill>
                  <a:srgbClr val="080708"/>
                </a:solidFill>
                <a:latin typeface="Open Sauce Bold"/>
                <a:ea typeface="Open Sauce Bold"/>
                <a:cs typeface="Open Sauce Bold"/>
                <a:sym typeface="Open Sauce Bold"/>
              </a:rPr>
              <a:t>Thank</a:t>
            </a:r>
          </a:p>
        </p:txBody>
      </p:sp>
      <p:sp>
        <p:nvSpPr>
          <p:cNvPr id="3" name="TextBox 3"/>
          <p:cNvSpPr txBox="1"/>
          <p:nvPr/>
        </p:nvSpPr>
        <p:spPr>
          <a:xfrm>
            <a:off x="6323213" y="2684267"/>
            <a:ext cx="3226263" cy="2323845"/>
          </a:xfrm>
          <a:prstGeom prst="rect">
            <a:avLst/>
          </a:prstGeom>
        </p:spPr>
        <p:txBody>
          <a:bodyPr lIns="0" tIns="0" rIns="0" bIns="0" rtlCol="0" anchor="t">
            <a:spAutoFit/>
          </a:bodyPr>
          <a:lstStyle/>
          <a:p>
            <a:pPr algn="r">
              <a:lnSpc>
                <a:spcPts val="19059"/>
              </a:lnSpc>
            </a:pPr>
            <a:r>
              <a:rPr lang="en-US" sz="13613" spc="-272">
                <a:solidFill>
                  <a:srgbClr val="31DAFF"/>
                </a:solidFill>
                <a:latin typeface="Open Sauce"/>
                <a:ea typeface="Open Sauce"/>
                <a:cs typeface="Open Sauce"/>
                <a:sym typeface="Open Sauce"/>
              </a:rPr>
              <a:t>You</a:t>
            </a:r>
          </a:p>
        </p:txBody>
      </p:sp>
      <p:sp>
        <p:nvSpPr>
          <p:cNvPr id="4" name="Freeform 4"/>
          <p:cNvSpPr/>
          <p:nvPr/>
        </p:nvSpPr>
        <p:spPr>
          <a:xfrm>
            <a:off x="12357776" y="7907880"/>
            <a:ext cx="4901524" cy="1350420"/>
          </a:xfrm>
          <a:custGeom>
            <a:avLst/>
            <a:gdLst/>
            <a:ahLst/>
            <a:cxnLst/>
            <a:rect l="l" t="t" r="r" b="b"/>
            <a:pathLst>
              <a:path w="4901524" h="1350420">
                <a:moveTo>
                  <a:pt x="0" y="0"/>
                </a:moveTo>
                <a:lnTo>
                  <a:pt x="4901524" y="0"/>
                </a:lnTo>
                <a:lnTo>
                  <a:pt x="4901524" y="1350420"/>
                </a:lnTo>
                <a:lnTo>
                  <a:pt x="0" y="1350420"/>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1390</Words>
  <Application>Microsoft Office PowerPoint</Application>
  <PresentationFormat>Custom</PresentationFormat>
  <Paragraphs>209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Open Sauce Bold</vt:lpstr>
      <vt:lpstr>Arial</vt:lpstr>
      <vt:lpstr>League Spartan</vt:lpstr>
      <vt:lpstr>Open Sauce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Center Performance Analysis</dc:title>
  <cp:lastModifiedBy>Mehak Aggarwal</cp:lastModifiedBy>
  <cp:revision>2</cp:revision>
  <dcterms:created xsi:type="dcterms:W3CDTF">2006-08-16T00:00:00Z</dcterms:created>
  <dcterms:modified xsi:type="dcterms:W3CDTF">2026-04-26T11:18:18Z</dcterms:modified>
  <dc:identifier>DAHFVNyrPpk</dc:identifier>
</cp:coreProperties>
</file>